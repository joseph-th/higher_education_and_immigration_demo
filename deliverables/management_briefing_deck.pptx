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MANAGEMENT BRIEFING · PORTFOLIO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658368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900" b="1">
                <a:solidFill>
                  <a:srgbClr val="10263C"/>
                </a:solidFill>
                <a:latin typeface="Aptos"/>
              </a:rPr>
              <a:t>U.S. nonresident
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79776"/>
            <a:ext cx="6080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D6D7E"/>
                </a:solidFill>
                <a:latin typeface="Aptos"/>
              </a:rPr>
              <a:t>What changed from 2015 to 2024, where recovery differs, and what a manager should know before using the figures.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416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D6D7E"/>
                </a:solidFill>
                <a:latin typeface="Aptos"/>
              </a:rPr>
              <a:t>IPEDS Fall Enrollment · 50 states + DC · 2024 provisional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25696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7564F"/>
                </a:solidFill>
                <a:latin typeface="Aptos"/>
              </a:rPr>
              <a:t>Not a measure of all immigrants or all international students.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0"/>
            <a:ext cx="4465015" cy="6858000"/>
          </a:xfrm>
          <a:prstGeom prst="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1024128"/>
            <a:ext cx="3520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FB0C0"/>
                </a:solidFill>
                <a:latin typeface="Aptos"/>
              </a:rPr>
              <a:t>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481328"/>
            <a:ext cx="35204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12848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4DEE7"/>
                </a:solidFill>
                <a:latin typeface="Aptos"/>
              </a:rPr>
              <a:t>U.S. nonresident students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83879" y="2871216"/>
            <a:ext cx="3200401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83879" y="3182112"/>
            <a:ext cx="3520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369417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4DEE7"/>
                </a:solidFill>
                <a:latin typeface="Aptos"/>
              </a:rPr>
              <a:t>since 2015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846320"/>
            <a:ext cx="3383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Prepared as a reviewer-facing management deck from the same validated outputs used by the public brief, Excel workbook, and SQL analysis.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996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Higher Education Data Brief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The latest year rose, but the composition of growth changed.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Four numbers establish the current reporting picture before deeper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74519"/>
            <a:ext cx="2606040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2024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5.3% of total enrollment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2023 →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+2.9%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RECOVERED VS 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33 of 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18 remain below 2019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13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2015 →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+63,400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+6.5%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383280"/>
            <a:ext cx="10972800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63C"/>
                </a:solidFill>
                <a:latin typeface="Aptos"/>
              </a:rPr>
              <a:t>What changed in the latest 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96512"/>
            <a:ext cx="28620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Undergraduate growth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379976"/>
            <a:ext cx="2862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Undergraduate U.S. nonresident enrollment increased +31,592 in 2024.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096512"/>
            <a:ext cx="295351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Graduate enrollment edged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379976"/>
            <a:ext cx="2953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Graduate enrollment changed -2,053, so the net gain was not graduate-driven in the latest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096512"/>
            <a:ext cx="313639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Most movement was within existing institutions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379976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Continuing institutions accounted for +29,968; entry/exit netted -429.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NATIONAL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Enrollment recovered above 2015 levels after the 2020 shock.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The decade result is positive, but the student-level mix changed substantially.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754380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U.S. nonresident enrollment,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8600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students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5054205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981053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0.85m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54480" y="3966447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96112" y="3893295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0.95m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878688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6112" y="2805536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1.05m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6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980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19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2024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1554480" y="3461911"/>
            <a:ext cx="670560" cy="1701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25040" y="3439199"/>
            <a:ext cx="670560" cy="2271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95600" y="3439199"/>
            <a:ext cx="670559" cy="1085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566159" y="3547790"/>
            <a:ext cx="670561" cy="16784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6720" y="3715631"/>
            <a:ext cx="670560" cy="1370337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907280" y="4706166"/>
            <a:ext cx="670560" cy="3798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77840" y="3816978"/>
            <a:ext cx="670560" cy="889188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48400" y="3263776"/>
            <a:ext cx="670560" cy="5532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918960" y="2942463"/>
            <a:ext cx="670559" cy="321313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504188" y="3581810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74747" y="341161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45307" y="3388907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15867" y="349749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186428" y="366533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6988" y="503567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27548" y="465587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198108" y="376668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68668" y="321348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39227" y="2892171"/>
            <a:ext cx="100584" cy="100584"/>
          </a:xfrm>
          <a:prstGeom prst="ellipse">
            <a:avLst/>
          </a:prstGeom>
          <a:solidFill>
            <a:srgbClr val="0B776E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9" y="255841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263C"/>
                </a:solidFill>
                <a:latin typeface="Aptos"/>
              </a:rPr>
              <a:t>1,044,137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1810512"/>
            <a:ext cx="3227832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8512" y="207568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DECADE COMPOSITION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257860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Graduate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816352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+138,765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68512" y="32004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+33.3%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668512" y="3593592"/>
            <a:ext cx="251460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68512" y="38770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Undergraduate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8512" y="411480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-75,365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8512" y="4498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-13.4%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50749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FB0C0"/>
                </a:solidFill>
                <a:latin typeface="Aptos"/>
              </a:rPr>
              <a:t>Net decade change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8512" y="5340096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Recovery is broad, but not uniform across states.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Change below is relative to the 2019 pre-pandemic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10972800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11680"/>
            <a:ext cx="2011680" cy="6583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8F3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6712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7564F"/>
                </a:solidFill>
                <a:latin typeface="Aptos"/>
              </a:rPr>
              <a:t>33 of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07564F"/>
                </a:solidFill>
                <a:latin typeface="Aptos"/>
              </a:rPr>
              <a:t>at or above 2019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gains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+14,464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TX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480" y="3813048"/>
            <a:ext cx="324973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+14,279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4480" y="4270248"/>
            <a:ext cx="2925194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3752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+12,853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FL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54480" y="4727448"/>
            <a:ext cx="272651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+11,980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5184648"/>
            <a:ext cx="253715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shortfalls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-33,282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30568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30568" y="3813048"/>
            <a:ext cx="42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-4,265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0568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30568" y="4270248"/>
            <a:ext cx="380002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WA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30568" y="4727448"/>
            <a:ext cx="3792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0568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30568" y="5184648"/>
            <a:ext cx="360814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-3,648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715000"/>
            <a:ext cx="10012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Interpretation: the national recovery does not imply a uniform state pattern. California remains the largest absolute shortfall from 2019, while Illinois and Texas show the largest gains.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Private nonprofit growth offset declines in the other control sectors.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Institution-universe accounting shows where the decade increase actually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52120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Change by institutional control,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Public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2715768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2715768"/>
            <a:ext cx="586089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267919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-16,087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35584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nonprofit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333756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+82,825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14216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for-profit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032504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54480" y="4032504"/>
            <a:ext cx="1216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99592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-3,338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0749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Aptos"/>
              </a:rPr>
              <a:t>Private nonprofit institutions increased by 82,825 students and shifted the national control mix toward nonprofit institutions.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810512"/>
            <a:ext cx="5541264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066543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INSTITUTION-UNIVERSE ACCOUNTING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060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Continuing institutions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505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+66,981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82512" y="3090672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3438144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Universe entry / exit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8269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-3,581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82512" y="3922776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82512" y="4288536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D4DEE7"/>
                </a:solidFill>
                <a:latin typeface="Aptos"/>
              </a:rPr>
              <a:t>National decade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10565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5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9834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The increase was created inside continuing institutions, not by adding more institutions to the analytic universe.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INTERPRETATION AND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Use the trend for reporting, but keep the definition and release boundaries visible.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This deck is a management-facing presentation layer over validated analytical outputs.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47088"/>
            <a:ext cx="5349240" cy="43159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What a manager can take away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724912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51760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Latest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35224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U.S. nonresident enrollment increased +29,539 (+2.9%) from 2023.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29584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456432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Recovery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739896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33 states/DC are at or above 2019, but 18 remain below the pre-pandemic baseline.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334256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61104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Structural driver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544568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Over the full decade, growth was graduate-heavy and concentrated in private nonprofit institutions and continuing institutions.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138928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065776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Next reporting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5349240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When a new IPEDS release arrives, rerun schema, QA, benchmark, SQL, and publication checks before refreshing this deck.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847088"/>
            <a:ext cx="5394960" cy="4315968"/>
          </a:xfrm>
          <a:prstGeom prst="roundRect">
            <a:avLst/>
          </a:prstGeom>
          <a:solidFill>
            <a:srgbClr val="F0F4F7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031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Guardrails before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2679192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Population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962656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IPEDS U.S. nonresident is not interchangeable with immigrant-origin, undocumented, refugee/asylee, or all international-student populations.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483864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3465576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Vintage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3749039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is treated as provisional and can differ slightly from earlier Digest releases built from earlier files.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270248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4251960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Institution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4535424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Large institution-level movements are triaged and evidence-reviewed before they support institution-specific public claims.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056631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5038344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Authority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5321807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CSV/JSON outputs remain authoritative; this PPTX, the Excel workbook, PDF, and website are downstream presentation artifacts.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715000"/>
            <a:ext cx="4434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>
                <a:solidFill>
                  <a:srgbClr val="5D6D7E"/>
                </a:solidFill>
                <a:latin typeface="Aptos"/>
              </a:rPr>
              <a:t>Source: NCES IPEDS Fall Enrollment and Institutional Characteristics, 2015–2024. Geography: 50 states + DC. Universe: degree-granting First Look/Digest Title IV institutions.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Nonresident Enrollment Management Briefing</dc:title>
  <dc:subject>Portfolio management briefing generated from validated IPEDS outputs</dc:subject>
  <dc:creator>Portfolio demonstration</dc:creator>
  <cp:keywords>IPEDS, analyst, PowerPoint, management briefing, portfolio</cp:keywords>
  <dc:description>Downstream presentation artifact; validated CSV/JSON outputs remain authoritative.</dc:description>
  <cp:lastModifiedBy>Steve Canny</cp:lastModifiedBy>
  <cp:revision>1</cp:revision>
  <dcterms:created xsi:type="dcterms:W3CDTF">2026-10-13T00:00:00Z</dcterms:created>
  <dcterms:modified xsi:type="dcterms:W3CDTF">2026-10-13T00:00:00Z</dcterms:modified>
  <cp:category/>
</cp:coreProperties>
</file>