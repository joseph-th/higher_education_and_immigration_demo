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U.S. NONRESIDENT ENROLLMENT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2024 growth shifted toward undergraduates.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Long-run recovery is still graduate-heavy and uneven across states.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74519"/>
            <a:ext cx="2606040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2024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5.3% of total 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2023 →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+2.9%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UNDERGRADUATE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+31,592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45 of 51 states/DC increased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2015 →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+63,400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83280"/>
            <a:ext cx="6903720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63C"/>
                </a:solidFill>
                <a:latin typeface="Aptos"/>
              </a:rPr>
              <a:t>What changed from 2023 to 2024?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941063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D6D7E"/>
                </a:solidFill>
                <a:latin typeface="Aptos"/>
              </a:rPr>
              <a:t>Change in U.S. nonresident enrollment by student level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334256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Undergraduate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4370831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65092" y="4334256"/>
            <a:ext cx="0" cy="219456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165092" y="4370831"/>
            <a:ext cx="184251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43251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D6D7E"/>
                </a:solidFill>
                <a:latin typeface="Aptos"/>
              </a:rPr>
              <a:t>+31,592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800600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Graduate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37175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65092" y="4800600"/>
            <a:ext cx="0" cy="219455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45356" y="4837175"/>
            <a:ext cx="119735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91455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D6D7E"/>
                </a:solidFill>
                <a:latin typeface="Aptos"/>
              </a:rPr>
              <a:t>-2,053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266944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Net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303520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4165092" y="5266944"/>
            <a:ext cx="0" cy="219456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65092" y="5303520"/>
            <a:ext cx="1722780" cy="146304"/>
          </a:xfrm>
          <a:prstGeom prst="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7064" y="52578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54112" y="3383280"/>
            <a:ext cx="3840480" cy="2514600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363931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LATEST-YEAR READ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023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+28,580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4074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D4DEE7"/>
                </a:solidFill>
                <a:latin typeface="Aptos"/>
              </a:rPr>
              <a:t>undergraduate change at public institutions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46720" y="4846320"/>
            <a:ext cx="283464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046720" y="507492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ED9D0"/>
                </a:solidFill>
                <a:latin typeface="Aptos"/>
              </a:rPr>
              <a:t>+29,968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54132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D4DEE7"/>
                </a:solidFill>
                <a:latin typeface="Aptos"/>
              </a:rPr>
              <a:t>change at continuing institutions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NATIONAL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Enrollment recovered above 2015 levels after the 2020 shock.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The decade result is positive, but the student-level mix changed substantially.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754380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U.S. nonresident enrollment,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8600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students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5054205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981053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0.85m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3966447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96112" y="3893295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0.95m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878688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6112" y="280553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1.05m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6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980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19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554480" y="3461911"/>
            <a:ext cx="670560" cy="1701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25040" y="3439199"/>
            <a:ext cx="670560" cy="2271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95600" y="3439199"/>
            <a:ext cx="670559" cy="1085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566159" y="3547790"/>
            <a:ext cx="670561" cy="16784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6720" y="3715631"/>
            <a:ext cx="670560" cy="1370337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07280" y="4706166"/>
            <a:ext cx="670560" cy="3798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77840" y="3816978"/>
            <a:ext cx="670560" cy="889188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48400" y="3263776"/>
            <a:ext cx="670560" cy="5532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18960" y="2942463"/>
            <a:ext cx="670559" cy="321313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504188" y="3581810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74747" y="341161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45307" y="3388907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5867" y="349749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186428" y="366533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6988" y="503567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7548" y="465587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98108" y="376668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8668" y="321348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39227" y="2892171"/>
            <a:ext cx="100584" cy="100584"/>
          </a:xfrm>
          <a:prstGeom prst="ellipse">
            <a:avLst/>
          </a:prstGeom>
          <a:solidFill>
            <a:srgbClr val="0B776E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9" y="255841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263C"/>
                </a:solidFill>
                <a:latin typeface="Aptos"/>
              </a:rPr>
              <a:t>1,044,137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810512"/>
            <a:ext cx="3227832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8512" y="207568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DECADE COMPOSITION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257860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Graduate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816352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+138,765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68512" y="32004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+33.3%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68512" y="3593592"/>
            <a:ext cx="251460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68512" y="38770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Undergraduate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411480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-75,365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8512" y="4498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-13.4%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50749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FB0C0"/>
                </a:solidFill>
                <a:latin typeface="Aptos"/>
              </a:rPr>
              <a:t>Net decade change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8512" y="534009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Recovery is broad, but not uniform across states.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Change below is relative to the 2019 pre-pandemic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10972800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11680"/>
            <a:ext cx="2011680" cy="6583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8F3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6712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7564F"/>
                </a:solidFill>
                <a:latin typeface="Aptos"/>
              </a:rPr>
              <a:t>33 of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07564F"/>
                </a:solidFill>
                <a:latin typeface="Aptos"/>
              </a:rPr>
              <a:t>at or above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gains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480" y="3813048"/>
            <a:ext cx="324973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+14,279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4270248"/>
            <a:ext cx="2925194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+12,853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FL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54480" y="4727448"/>
            <a:ext cx="272651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5184648"/>
            <a:ext cx="253715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shortfalls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-33,282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0568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30568" y="3813048"/>
            <a:ext cx="42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-4,265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0568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0568" y="4270248"/>
            <a:ext cx="380002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30568" y="4727448"/>
            <a:ext cx="3792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0568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30568" y="5184648"/>
            <a:ext cx="360814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-3,648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715000"/>
            <a:ext cx="10012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Interpretation: the national recovery does not imply a uniform state pattern. California remains the largest absolute shortfall from 2019, while Illinois and Texas show the largest gains.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Private nonprofit growth offset declines in the other control sectors.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Institution-universe accounting shows where the decade increase actually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52120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Change by institutional control,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Public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715768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2715768"/>
            <a:ext cx="586089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67919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-16,087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5584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nonprofit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333756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+82,825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14216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for-profit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032504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54480" y="4032504"/>
            <a:ext cx="1216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99592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-3,338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749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Aptos"/>
              </a:rPr>
              <a:t>Private nonprofit institutions increased by 82,825 students and shifted the national control mix toward nonprofit institutions.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810512"/>
            <a:ext cx="5541264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066543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INSTITUTION-UNIVERSE ACCOUNTING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Continuing 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505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+66,981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82512" y="3090672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3438144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Universe entry /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8269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-3,581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2512" y="3922776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82512" y="4288536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D4DEE7"/>
                </a:solidFill>
                <a:latin typeface="Aptos"/>
              </a:rPr>
              <a:t>National decade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0565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5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9834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The increase was created inside continuing institutions, not by adding more institutions to the analytic universe.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PUBLICATION 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The aggregate result is publishable. 8 institution claims remain held.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Automated flags trigger evidence review; unresolved institution interpretation stays out of public narrative.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47088"/>
            <a:ext cx="34290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93392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HIGH-PRIORITY REVIEWED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95144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27/27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43200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26 safe with context · 1 held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528" y="1847088"/>
            <a:ext cx="34290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93392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MEDIUM-PRIORITY REVIEWED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95144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50/50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743200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43 safe with context · 7 held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27264" y="1847088"/>
            <a:ext cx="3767328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91856" y="1993392"/>
            <a:ext cx="3438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INSTITUTION-SPECIFIC CLAIMS 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2295144"/>
            <a:ext cx="34381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1856" y="2743200"/>
            <a:ext cx="3438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retained in aggregates · excluded from unsupported narrative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355848"/>
            <a:ext cx="5349240" cy="2788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027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What can be used now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4169664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096512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Aggregate direction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379976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enrollment increased +29,539 (+2.9%), led by undergraduate growth.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828032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754880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Geographic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038344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33 states/DC are at or above 2019; 18 remain below.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5486400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5413248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Next-release persistence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5696712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Call the undergraduate shift broadly persistent only if the next complete release is positive nationally and in at least 26 of 51 states/DC.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355848"/>
            <a:ext cx="5394960" cy="2788920"/>
          </a:xfrm>
          <a:prstGeom prst="roundRect">
            <a:avLst/>
          </a:prstGeom>
          <a:solidFill>
            <a:srgbClr val="F0F4F7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60273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Guardrails before reuse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4096512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Population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4379976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IPEDS U.S. nonresident is not interchangeable with immigrant-origin, undocumented, refugee/asylee, or all international-student populations.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773168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4754880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Vintage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5038344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is treated as provisional and can differ slightly from earlier Digest releases built from earlier files.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431536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5413248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Authority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288" y="5696712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CSV/JSON outputs remain authoritative; this PPTX, the Excel workbook, PDF, and website are downstream presentation artifacts.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Nonresident Enrollment Management Briefing</dc:title>
  <dc:subject>Portfolio management briefing generated from validated IPEDS outputs</dc:subject>
  <dc:creator>Portfolio demonstration</dc:creator>
  <cp:keywords>IPEDS, analyst, PowerPoint, management briefing, portfolio</cp:keywords>
  <dc:description>Downstream presentation artifact; validated CSV/JSON outputs remain authoritative.</dc:description>
  <cp:lastModifiedBy>Steve Canny</cp:lastModifiedBy>
  <cp:revision>1</cp:revision>
  <dcterms:created xsi:type="dcterms:W3CDTF">2026-10-13T00:00:00Z</dcterms:created>
  <dcterms:modified xsi:type="dcterms:W3CDTF">2026-10-13T00:00:00Z</dcterms:modified>
  <cp:category/>
</cp:coreProperties>
</file>