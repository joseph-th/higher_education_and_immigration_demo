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MANAGEMENT BRIEFING · PORTFOLIO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6583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0263C"/>
                </a:solidFill>
                <a:latin typeface="Aptos"/>
              </a:rPr>
              <a:t>U.S. nonresident
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79776"/>
            <a:ext cx="6080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7E"/>
                </a:solidFill>
                <a:latin typeface="Aptos"/>
              </a:rPr>
              <a:t>What changed from 2015 to 2024, where recovery differs, and what a manager should know before using the figures.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4164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D6D7E"/>
                </a:solidFill>
                <a:latin typeface="Aptos"/>
              </a:rPr>
              <a:t>IPEDS Fall Enrollment · 50 states + DC · 2024 provisional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25696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7564F"/>
                </a:solidFill>
                <a:latin typeface="Aptos"/>
              </a:rPr>
              <a:t>Not a measure of all immigrants or all international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024128"/>
            <a:ext cx="3520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FB0C0"/>
                </a:solidFill>
                <a:latin typeface="Aptos"/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481328"/>
            <a:ext cx="35204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1,044,137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1284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4DEE7"/>
                </a:solidFill>
                <a:latin typeface="Aptos"/>
              </a:rPr>
              <a:t>U.S. nonresident students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2871216"/>
            <a:ext cx="3200401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3182112"/>
            <a:ext cx="3520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8ED9D0"/>
                </a:solidFill>
                <a:latin typeface="Aptos"/>
              </a:rPr>
              <a:t>+63,400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694176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4DEE7"/>
                </a:solidFill>
                <a:latin typeface="Aptos"/>
              </a:rPr>
              <a:t>since 2015 (+6.5%)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84632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4DEE7"/>
                </a:solidFill>
                <a:latin typeface="Aptos"/>
              </a:rPr>
              <a:t>Prepared as a reviewer-facing management deck from the same validated outputs used by the public brief, Excel workbook, and SQL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9963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Higher Education Data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The latest year rose, but the composition of growth 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Four numbers establish the current reporting picture before deeper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2606040" cy="1216152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9FB0C0"/>
                </a:solidFill>
                <a:latin typeface="Aptos"/>
              </a:rPr>
              <a:t>2024 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1,044,137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4DEE7"/>
                </a:solidFill>
                <a:latin typeface="Aptos"/>
              </a:rPr>
              <a:t>5.3% of total enrollment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2023 →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+29,539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+2.9%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RECOVERED VS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33 of 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18 remain below 2019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874519"/>
            <a:ext cx="260604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5984" y="2020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D6D7E"/>
                </a:solidFill>
                <a:latin typeface="Aptos"/>
              </a:rPr>
              <a:t>2015 →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322576"/>
            <a:ext cx="2276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0263C"/>
                </a:solidFill>
                <a:latin typeface="Aptos"/>
              </a:rPr>
              <a:t>+63,400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2770632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D6D7E"/>
                </a:solidFill>
                <a:latin typeface="Aptos"/>
              </a:rPr>
              <a:t>+6.5%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83280"/>
            <a:ext cx="10972800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3931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63C"/>
                </a:solidFill>
                <a:latin typeface="Aptos"/>
              </a:rPr>
              <a:t>What changed in the latest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1148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96512"/>
            <a:ext cx="28620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Undergraduate growth 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79976"/>
            <a:ext cx="2862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Undergraduate enrollment increased +31,592 across 45 of 51 states/DC; public institutions contributed +28,580.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1148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96512"/>
            <a:ext cx="29535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Graduate enrollment edged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379976"/>
            <a:ext cx="2953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Graduate enrollment changed -2,053, so the net gain was not graduate-driven in the latest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1148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4096512"/>
            <a:ext cx="31363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Existing institutions drove the 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3799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Continuing institutions accounted for +29,968; entry/exit netted -429.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NATIONAL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Enrollment recovered above 2015 levels after the 2020 shock.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The decade result is positive, but the student-level mix changed substantially.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754380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U.S. nonresident enrollment, 2015–2024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students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5054205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" y="4981053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0.85m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3966447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3893295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0.95m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878688"/>
            <a:ext cx="6035039" cy="0"/>
          </a:xfrm>
          <a:prstGeom prst="line">
            <a:avLst/>
          </a:prstGeom>
          <a:ln w="889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2805536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1.05m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68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5394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2024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54480" y="3461911"/>
            <a:ext cx="670560" cy="17019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25040" y="3439199"/>
            <a:ext cx="670560" cy="2271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95600" y="3439199"/>
            <a:ext cx="670559" cy="10859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66159" y="3547790"/>
            <a:ext cx="670561" cy="167841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36720" y="3715631"/>
            <a:ext cx="670560" cy="1370337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907280" y="4706166"/>
            <a:ext cx="670560" cy="37980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77840" y="3816978"/>
            <a:ext cx="670560" cy="889188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248400" y="3263776"/>
            <a:ext cx="670560" cy="553202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18960" y="2942463"/>
            <a:ext cx="670559" cy="321313"/>
          </a:xfrm>
          <a:prstGeom prst="line">
            <a:avLst/>
          </a:prstGeom>
          <a:ln w="33020">
            <a:solidFill>
              <a:srgbClr val="0B77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504188" y="3581810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74747" y="3411619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45307" y="3388907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15867" y="3497498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86428" y="3665339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6988" y="503567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27548" y="4655874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198108" y="3766686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68668" y="3213484"/>
            <a:ext cx="100584" cy="1005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39227" y="2892171"/>
            <a:ext cx="100584" cy="100584"/>
          </a:xfrm>
          <a:prstGeom prst="ellipse">
            <a:avLst/>
          </a:prstGeom>
          <a:solidFill>
            <a:srgbClr val="0B776E"/>
          </a:solidFill>
          <a:ln w="1778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9" y="2558415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63C"/>
                </a:solidFill>
                <a:latin typeface="Aptos"/>
              </a:rPr>
              <a:t>1,044,137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810512"/>
            <a:ext cx="3227832" cy="4407408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20756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ED9D0"/>
                </a:solidFill>
                <a:latin typeface="Aptos"/>
              </a:rPr>
              <a:t>DECADE 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257860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FB0C0"/>
                </a:solidFill>
                <a:latin typeface="Aptos"/>
              </a:rPr>
              <a:t>Graduate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281635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+138,765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32004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D4DEE7"/>
                </a:solidFill>
                <a:latin typeface="Aptos"/>
              </a:rPr>
              <a:t>+33.3%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68512" y="3593592"/>
            <a:ext cx="251460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68512" y="3877056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FB0C0"/>
                </a:solidFill>
                <a:latin typeface="Aptos"/>
              </a:rPr>
              <a:t>Undergraduate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8512" y="411480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-75,365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4498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D4DEE7"/>
                </a:solidFill>
                <a:latin typeface="Aptos"/>
              </a:rPr>
              <a:t>-13.4%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50749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FB0C0"/>
                </a:solidFill>
                <a:latin typeface="Aptos"/>
              </a:rPr>
              <a:t>Net decade change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8512" y="5340096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8ED9D0"/>
                </a:solidFill>
                <a:latin typeface="Aptos"/>
              </a:rPr>
              <a:t>+63,400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0263C"/>
                </a:solidFill>
                <a:latin typeface="Aptos"/>
              </a:rPr>
              <a:t>Recovery is broad, but not uniform across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Change below is relative to the 2019 pre-pandemic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10972800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011680"/>
            <a:ext cx="2011680" cy="658368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8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6712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7564F"/>
                </a:solidFill>
                <a:latin typeface="Aptos"/>
              </a:rPr>
              <a:t>33 of 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95728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7564F"/>
                </a:solidFill>
                <a:latin typeface="Aptos"/>
              </a:rPr>
              <a:t>at or above 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Largest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375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3558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4480" y="3355848"/>
            <a:ext cx="329184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33192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+14,464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947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TX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8130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813048"/>
            <a:ext cx="3249736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7764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+14,279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519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42702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4480" y="4270248"/>
            <a:ext cx="2925194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42336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+12,853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091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FL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47274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0" y="4727448"/>
            <a:ext cx="272651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46908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+11,980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1663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1846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5184648"/>
            <a:ext cx="2537156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51480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+11,148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077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Largest shortfalls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3375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0568" y="33558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0568" y="3355848"/>
            <a:ext cx="3291840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33192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-33,282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7947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0568" y="38130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30568" y="3813048"/>
            <a:ext cx="421840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37764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-4,265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2519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0568" y="42702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30568" y="4270248"/>
            <a:ext cx="380002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42336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-3,842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091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WA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0568" y="47274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30568" y="4727448"/>
            <a:ext cx="379211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46908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-3,834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16636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0568" y="5184648"/>
            <a:ext cx="329184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30568" y="5184648"/>
            <a:ext cx="360814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514807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-3,648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5715000"/>
            <a:ext cx="10012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Interpretation: the national recovery does not imply a uniform state pattern. California remains the largest absolute shortfall from 2019, while Illinois and Texas show the largest gains.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63C"/>
                </a:solidFill>
                <a:latin typeface="Aptos"/>
              </a:rPr>
              <a:t>Private nonprofit growth offset declines in the other control sectors.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Institution-universe accounting shows where the decade increase actually came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10512"/>
            <a:ext cx="521208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63C"/>
                </a:solidFill>
                <a:latin typeface="Aptos"/>
              </a:rPr>
              <a:t>Change by institutional control, 2015–2024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Public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15768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2715768"/>
            <a:ext cx="586089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67919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-16,087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355848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Priv. nonprofit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374136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374136"/>
            <a:ext cx="3017520" cy="146304"/>
          </a:xfrm>
          <a:prstGeom prst="rect">
            <a:avLst/>
          </a:prstGeom>
          <a:solidFill>
            <a:srgbClr val="0B776E"/>
          </a:solidFill>
          <a:ln w="10160"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3337560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+82,825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142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0263C"/>
                </a:solidFill>
                <a:latin typeface="Aptos"/>
              </a:rPr>
              <a:t>Priv. for-profit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032504"/>
            <a:ext cx="3017520" cy="146304"/>
          </a:xfrm>
          <a:prstGeom prst="rect">
            <a:avLst/>
          </a:prstGeom>
          <a:solidFill>
            <a:srgbClr val="F0F4F7"/>
          </a:solidFill>
          <a:ln w="10160">
            <a:solidFill>
              <a:srgbClr val="F0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4032504"/>
            <a:ext cx="121611" cy="146304"/>
          </a:xfrm>
          <a:prstGeom prst="rect">
            <a:avLst/>
          </a:prstGeom>
          <a:solidFill>
            <a:srgbClr val="C76B3B"/>
          </a:solidFill>
          <a:ln w="10160">
            <a:solidFill>
              <a:srgbClr val="C76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3995928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D6D7E"/>
                </a:solidFill>
                <a:latin typeface="Aptos"/>
              </a:rPr>
              <a:t>-3,338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749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Private nonprofit institutions increased by 82,825 students and shifted the national control mix toward nonprofit institutions.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1810512"/>
            <a:ext cx="5541264" cy="4407408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10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66543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ED9D0"/>
                </a:solidFill>
                <a:latin typeface="Aptos"/>
              </a:rPr>
              <a:t>INSTITUTION-UNIVERSE ACCOUNTING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60604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9FB0C0"/>
                </a:solidFill>
                <a:latin typeface="Aptos"/>
              </a:rPr>
              <a:t>Continuing institutions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505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+66,981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82512" y="3090672"/>
            <a:ext cx="429768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3438144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9FB0C0"/>
                </a:solidFill>
                <a:latin typeface="Aptos"/>
              </a:rPr>
              <a:t>Universe entry /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282696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-3,581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82512" y="3922776"/>
            <a:ext cx="4297680" cy="0"/>
          </a:xfrm>
          <a:prstGeom prst="line">
            <a:avLst/>
          </a:prstGeom>
          <a:ln w="12700">
            <a:solidFill>
              <a:srgbClr val="3A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82512" y="4288536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D4DEE7"/>
                </a:solidFill>
                <a:latin typeface="Aptos"/>
              </a:rPr>
              <a:t>National decade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105656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500" b="1">
                <a:solidFill>
                  <a:srgbClr val="8ED9D0"/>
                </a:solidFill>
                <a:latin typeface="Aptos"/>
              </a:rPr>
              <a:t>+63,400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98348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4DEE7"/>
                </a:solidFill>
                <a:latin typeface="Aptos"/>
              </a:rPr>
              <a:t>The increase was created inside continuing institutions, not by adding more institutions to the analytic universe.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INTERPRETATION AND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744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63C"/>
                </a:solidFill>
                <a:latin typeface="Aptos"/>
              </a:rPr>
              <a:t>Use the trend for reporting, but keep the definition and release boundaries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8132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D7E"/>
                </a:solidFill>
                <a:latin typeface="Aptos"/>
              </a:rPr>
              <a:t>This deck is a management-facing presentation layer over validated analytical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53492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263C"/>
                </a:solidFill>
                <a:latin typeface="Aptos"/>
              </a:rPr>
              <a:t>What a manager can take away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24912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651760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Latest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35224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2024 U.S. nonresident enrollment increased +29,539 (+2.9%) from 2023.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29584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456432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Recovery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39896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33 states/DC are at or above 2019, but 18 remain below the pre-pandemic baseline.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34256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261104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Structural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544568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Over the full decade, growth was graduate-heavy and concentrated in private nonprofit institutions and continuing institutions.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38928"/>
            <a:ext cx="82296" cy="82296"/>
          </a:xfrm>
          <a:prstGeom prst="ellipse">
            <a:avLst/>
          </a:prstGeom>
          <a:solidFill>
            <a:srgbClr val="0B776E"/>
          </a:solidFill>
          <a:ln>
            <a:solidFill>
              <a:srgbClr val="0B7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65776"/>
            <a:ext cx="4178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Next reporting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349240"/>
            <a:ext cx="4178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R01 is pre-specified: call the undergraduate shift broadly persistent only if the next complete release is positive nationally and in at least 26 of 51 states/DC.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847088"/>
            <a:ext cx="5394960" cy="4315968"/>
          </a:xfrm>
          <a:prstGeom prst="roundRect">
            <a:avLst/>
          </a:prstGeom>
          <a:solidFill>
            <a:srgbClr val="F0F4F7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0263C"/>
                </a:solidFill>
                <a:latin typeface="Aptos"/>
              </a:rPr>
              <a:t>Guardrails before reuse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679192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962656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IPEDS U.S. nonresident is not interchangeable with immigrant-origin, undocumented, refugee/asylee, or all international-student populations.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83864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465576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Vintage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749039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2024 is treated as provisional and can differ slightly from earlier Digest releases built from earlier files.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70248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251960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Institution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535424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Large institution-level movements are triaged and evidence-reviewed before they support institution-specific public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56631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7564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5038344"/>
            <a:ext cx="3959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263C"/>
                </a:solidFill>
                <a:latin typeface="Aptos"/>
              </a:rPr>
              <a:t>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5321807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D6D7E"/>
                </a:solidFill>
                <a:latin typeface="Aptos"/>
              </a:rPr>
              <a:t>CSV/JSON outputs remain authoritative; this PPTX, the Excel workbook, PDF, and website are downstream presentation artifacts.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7150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D6D7E"/>
                </a:solidFill>
                <a:latin typeface="Aptos"/>
              </a:rPr>
              <a:t>Source: NCES IPEDS Fall Enrollment and Institutional Characteristics, 2015–2024. Geography: 50 states + DC. Universe: degree-granting First Look/Digest Title IV institutions.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510528"/>
            <a:ext cx="10972800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47104"/>
            <a:ext cx="8961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Aptos"/>
              </a:rPr>
              <a:t>IPEDS Fall Enrollment · portfolio demonstration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Nonresident Enrollment Management Briefing</dc:title>
  <dc:subject>Portfolio management briefing generated from validated IPEDS outputs</dc:subject>
  <dc:creator>Portfolio demonstration</dc:creator>
  <cp:keywords>IPEDS, analyst, PowerPoint, management briefing, portfolio</cp:keywords>
  <dc:description>Downstream presentation artifact; validated CSV/JSON outputs remain authoritative.</dc:description>
  <cp:lastModifiedBy>Steve Canny</cp:lastModifiedBy>
  <cp:revision>1</cp:revision>
  <dcterms:created xsi:type="dcterms:W3CDTF">2026-10-13T00:00:00Z</dcterms:created>
  <dcterms:modified xsi:type="dcterms:W3CDTF">2026-10-13T00:00:00Z</dcterms:modified>
  <cp:category/>
</cp:coreProperties>
</file>