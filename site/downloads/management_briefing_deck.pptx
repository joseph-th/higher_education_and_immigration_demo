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420624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U.S. NONRESIDENT ENROLLMENT · 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49808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0263C"/>
                </a:solidFill>
                <a:latin typeface="Aptos"/>
              </a:rPr>
              <a:t>2024 growth shifted toward undergraduates.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98448"/>
            <a:ext cx="10652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D7E"/>
                </a:solidFill>
                <a:latin typeface="Aptos"/>
              </a:rPr>
              <a:t>Long-run recovery is still graduate-heavy and uneven across states.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874519"/>
            <a:ext cx="2606040" cy="1216152"/>
          </a:xfrm>
          <a:prstGeom prst="roundRect">
            <a:avLst/>
          </a:prstGeom>
          <a:solidFill>
            <a:srgbClr val="10263C"/>
          </a:solidFill>
          <a:ln w="10160">
            <a:solidFill>
              <a:srgbClr val="1026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2020824"/>
            <a:ext cx="22768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9FB0C0"/>
                </a:solidFill>
                <a:latin typeface="Aptos"/>
              </a:rPr>
              <a:t>2024 ENROLLMENT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322576"/>
            <a:ext cx="227685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"/>
              </a:rPr>
              <a:t>1,044,137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770632"/>
            <a:ext cx="22768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D4DEE7"/>
                </a:solidFill>
                <a:latin typeface="Aptos"/>
              </a:rPr>
              <a:t>5.3% of total enrollment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64992" y="1874519"/>
            <a:ext cx="2606040" cy="12161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29584" y="2020824"/>
            <a:ext cx="22768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5D6D7E"/>
                </a:solidFill>
                <a:latin typeface="Aptos"/>
              </a:rPr>
              <a:t>2023 → 2024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9584" y="2322576"/>
            <a:ext cx="227685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0263C"/>
                </a:solidFill>
                <a:latin typeface="Aptos"/>
              </a:rPr>
              <a:t>+29,539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9584" y="2770632"/>
            <a:ext cx="22768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D6D7E"/>
                </a:solidFill>
                <a:latin typeface="Aptos"/>
              </a:rPr>
              <a:t>+2.9%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08192" y="1874519"/>
            <a:ext cx="2606040" cy="12161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2020824"/>
            <a:ext cx="22768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5D6D7E"/>
                </a:solidFill>
                <a:latin typeface="Aptos"/>
              </a:rPr>
              <a:t>RECOVERED VS 2019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2783" y="2322576"/>
            <a:ext cx="227685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0263C"/>
                </a:solidFill>
                <a:latin typeface="Aptos"/>
              </a:rPr>
              <a:t>33 of 51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3" y="2770632"/>
            <a:ext cx="22768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D6D7E"/>
                </a:solidFill>
                <a:latin typeface="Aptos"/>
              </a:rPr>
              <a:t>18 remain below 2019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51392" y="1874519"/>
            <a:ext cx="2606040" cy="12161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15984" y="2020824"/>
            <a:ext cx="22768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5D6D7E"/>
                </a:solidFill>
                <a:latin typeface="Aptos"/>
              </a:rPr>
              <a:t>2015 → 2024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15984" y="2322576"/>
            <a:ext cx="227685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0263C"/>
                </a:solidFill>
                <a:latin typeface="Aptos"/>
              </a:rPr>
              <a:t>+63,400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15984" y="2770632"/>
            <a:ext cx="22768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D6D7E"/>
                </a:solidFill>
                <a:latin typeface="Aptos"/>
              </a:rPr>
              <a:t>+6.5%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" y="3383280"/>
            <a:ext cx="10972800" cy="25146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3639312"/>
            <a:ext cx="3840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0263C"/>
                </a:solidFill>
                <a:latin typeface="Aptos"/>
              </a:rPr>
              <a:t>What changed in the latest release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" y="4114800"/>
            <a:ext cx="310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96512"/>
            <a:ext cx="286207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263C"/>
                </a:solidFill>
                <a:latin typeface="Aptos"/>
              </a:rPr>
              <a:t>Undergraduate growth led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379976"/>
            <a:ext cx="2862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D6D7E"/>
                </a:solidFill>
                <a:latin typeface="Aptos"/>
              </a:rPr>
              <a:t>Undergraduate enrollment increased +31,592 across 45 of 51 states/DC; public institutions contributed +28,580.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4114800"/>
            <a:ext cx="310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44568" y="4096512"/>
            <a:ext cx="295351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263C"/>
                </a:solidFill>
                <a:latin typeface="Aptos"/>
              </a:rPr>
              <a:t>Graduate enrollment edged down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44568" y="4379976"/>
            <a:ext cx="29535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D6D7E"/>
                </a:solidFill>
                <a:latin typeface="Aptos"/>
              </a:rPr>
              <a:t>Graduate enrollment changed -2,053, so the net gain was not graduate-driven in the latest year.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35240" y="4114800"/>
            <a:ext cx="310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19288" y="4096512"/>
            <a:ext cx="313639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263C"/>
                </a:solidFill>
                <a:latin typeface="Aptos"/>
              </a:rPr>
              <a:t>Existing institutions drove the gain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9288" y="4379976"/>
            <a:ext cx="31363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D6D7E"/>
                </a:solidFill>
                <a:latin typeface="Aptos"/>
              </a:rPr>
              <a:t>Continuing institutions accounted for +29,968; entry/exit netted -429.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94360" y="6510528"/>
            <a:ext cx="10972800" cy="0"/>
          </a:xfrm>
          <a:prstGeom prst="line">
            <a:avLst/>
          </a:prstGeom>
          <a:ln w="1016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21792" y="6547104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IPEDS Fall Enrollment · portfolio demonstration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09960" y="652881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7E"/>
                </a:solidFill>
                <a:latin typeface="Apto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420624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NATIONAL TREND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49808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0263C"/>
                </a:solidFill>
                <a:latin typeface="Aptos"/>
              </a:rPr>
              <a:t>Enrollment recovered above 2015 levels after the 2020 shock.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98448"/>
            <a:ext cx="10652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D7E"/>
                </a:solidFill>
                <a:latin typeface="Aptos"/>
              </a:rPr>
              <a:t>The decade result is positive, but the student-level mix changed substantially.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810512"/>
            <a:ext cx="7543800" cy="44074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99339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0263C"/>
                </a:solidFill>
                <a:latin typeface="Aptos"/>
              </a:rPr>
              <a:t>U.S. nonresident enrollment, 2015–2024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28600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7E"/>
                </a:solidFill>
                <a:latin typeface="Aptos"/>
              </a:rPr>
              <a:t>students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554480" y="5054205"/>
            <a:ext cx="6035039" cy="0"/>
          </a:xfrm>
          <a:prstGeom prst="line">
            <a:avLst/>
          </a:prstGeom>
          <a:ln w="889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96112" y="4981053"/>
            <a:ext cx="5120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0.85m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554480" y="3966447"/>
            <a:ext cx="6035039" cy="0"/>
          </a:xfrm>
          <a:prstGeom prst="line">
            <a:avLst/>
          </a:prstGeom>
          <a:ln w="889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96112" y="3893295"/>
            <a:ext cx="5120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0.95m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554480" y="2878688"/>
            <a:ext cx="6035039" cy="0"/>
          </a:xfrm>
          <a:prstGeom prst="line">
            <a:avLst/>
          </a:prstGeom>
          <a:ln w="889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96112" y="2805536"/>
            <a:ext cx="5120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1.05m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5394960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2015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8680" y="5394960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2020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19800" y="5394960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2022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60919" y="5394960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2024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1554480" y="3461911"/>
            <a:ext cx="670560" cy="170191"/>
          </a:xfrm>
          <a:prstGeom prst="line">
            <a:avLst/>
          </a:prstGeom>
          <a:ln w="33020">
            <a:solidFill>
              <a:srgbClr val="0B77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2225040" y="3439199"/>
            <a:ext cx="670560" cy="22712"/>
          </a:xfrm>
          <a:prstGeom prst="line">
            <a:avLst/>
          </a:prstGeom>
          <a:ln w="33020">
            <a:solidFill>
              <a:srgbClr val="0B77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895600" y="3439199"/>
            <a:ext cx="670559" cy="108591"/>
          </a:xfrm>
          <a:prstGeom prst="line">
            <a:avLst/>
          </a:prstGeom>
          <a:ln w="33020">
            <a:solidFill>
              <a:srgbClr val="0B77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566159" y="3547790"/>
            <a:ext cx="670561" cy="167841"/>
          </a:xfrm>
          <a:prstGeom prst="line">
            <a:avLst/>
          </a:prstGeom>
          <a:ln w="33020">
            <a:solidFill>
              <a:srgbClr val="0B77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236720" y="3715631"/>
            <a:ext cx="670560" cy="1370337"/>
          </a:xfrm>
          <a:prstGeom prst="line">
            <a:avLst/>
          </a:prstGeom>
          <a:ln w="33020">
            <a:solidFill>
              <a:srgbClr val="0B77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4907280" y="4706166"/>
            <a:ext cx="670560" cy="379802"/>
          </a:xfrm>
          <a:prstGeom prst="line">
            <a:avLst/>
          </a:prstGeom>
          <a:ln w="33020">
            <a:solidFill>
              <a:srgbClr val="0B77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5577840" y="3816978"/>
            <a:ext cx="670560" cy="889188"/>
          </a:xfrm>
          <a:prstGeom prst="line">
            <a:avLst/>
          </a:prstGeom>
          <a:ln w="33020">
            <a:solidFill>
              <a:srgbClr val="0B77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6248400" y="3263776"/>
            <a:ext cx="670560" cy="553202"/>
          </a:xfrm>
          <a:prstGeom prst="line">
            <a:avLst/>
          </a:prstGeom>
          <a:ln w="33020">
            <a:solidFill>
              <a:srgbClr val="0B77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6918960" y="2942463"/>
            <a:ext cx="670559" cy="321313"/>
          </a:xfrm>
          <a:prstGeom prst="line">
            <a:avLst/>
          </a:prstGeom>
          <a:ln w="33020">
            <a:solidFill>
              <a:srgbClr val="0B77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1504188" y="3581810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174747" y="3411619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845307" y="3388907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15867" y="3497498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186428" y="3665339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856988" y="5035676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527548" y="4655874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198108" y="3766686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868668" y="3213484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539227" y="2892171"/>
            <a:ext cx="100584" cy="100584"/>
          </a:xfrm>
          <a:prstGeom prst="ellipse">
            <a:avLst/>
          </a:prstGeom>
          <a:solidFill>
            <a:srgbClr val="0B776E"/>
          </a:solidFill>
          <a:ln w="1778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32319" y="2558415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10263C"/>
                </a:solidFill>
                <a:latin typeface="Aptos"/>
              </a:rPr>
              <a:t>1,044,137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66760" y="1810512"/>
            <a:ext cx="3227832" cy="4407408"/>
          </a:xfrm>
          <a:prstGeom prst="roundRect">
            <a:avLst/>
          </a:prstGeom>
          <a:solidFill>
            <a:srgbClr val="10263C"/>
          </a:solidFill>
          <a:ln w="10160">
            <a:solidFill>
              <a:srgbClr val="1026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68512" y="2075688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8ED9D0"/>
                </a:solidFill>
                <a:latin typeface="Aptos"/>
              </a:rPr>
              <a:t>DECADE COMPOSITION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68512" y="2578608"/>
            <a:ext cx="1371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9FB0C0"/>
                </a:solidFill>
                <a:latin typeface="Aptos"/>
              </a:rPr>
              <a:t>Graduate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68512" y="2816352"/>
            <a:ext cx="2514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"/>
              </a:rPr>
              <a:t>+138,765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68512" y="320040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D4DEE7"/>
                </a:solidFill>
                <a:latin typeface="Aptos"/>
              </a:rPr>
              <a:t>+33.3%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668512" y="3593592"/>
            <a:ext cx="2514600" cy="0"/>
          </a:xfrm>
          <a:prstGeom prst="line">
            <a:avLst/>
          </a:prstGeom>
          <a:ln w="12700">
            <a:solidFill>
              <a:srgbClr val="3A4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8668512" y="3877056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9FB0C0"/>
                </a:solidFill>
                <a:latin typeface="Aptos"/>
              </a:rPr>
              <a:t>Undergraduate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68512" y="4114800"/>
            <a:ext cx="2514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"/>
              </a:rPr>
              <a:t>-75,365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68512" y="449884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D4DEE7"/>
                </a:solidFill>
                <a:latin typeface="Aptos"/>
              </a:rPr>
              <a:t>-13.4%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68512" y="5074920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9FB0C0"/>
                </a:solidFill>
                <a:latin typeface="Aptos"/>
              </a:rPr>
              <a:t>Net decade change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68512" y="5340096"/>
            <a:ext cx="2514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8ED9D0"/>
                </a:solidFill>
                <a:latin typeface="Aptos"/>
              </a:rPr>
              <a:t>+63,400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94360" y="6510528"/>
            <a:ext cx="10972800" cy="0"/>
          </a:xfrm>
          <a:prstGeom prst="line">
            <a:avLst/>
          </a:prstGeom>
          <a:ln w="1016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21792" y="6547104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IPEDS Fall Enrollment · portfolio demonstration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109960" y="652881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7E"/>
                </a:solidFill>
                <a:latin typeface="Apto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420624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GEOGRAPHY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49808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0263C"/>
                </a:solidFill>
                <a:latin typeface="Aptos"/>
              </a:rPr>
              <a:t>Recovery is broad, but not uniform across states.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98448"/>
            <a:ext cx="10652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D7E"/>
                </a:solidFill>
                <a:latin typeface="Aptos"/>
              </a:rPr>
              <a:t>Change below is relative to the 2019 pre-pandemic baseline.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783080"/>
            <a:ext cx="10972800" cy="44988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96112" y="2011680"/>
            <a:ext cx="2011680" cy="658368"/>
          </a:xfrm>
          <a:prstGeom prst="roundRect">
            <a:avLst/>
          </a:prstGeom>
          <a:solidFill>
            <a:srgbClr val="E8F3F1"/>
          </a:solidFill>
          <a:ln w="10160">
            <a:solidFill>
              <a:srgbClr val="E8F3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2167128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7564F"/>
                </a:solidFill>
                <a:latin typeface="Aptos"/>
              </a:rPr>
              <a:t>33 of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2395728"/>
            <a:ext cx="1737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07564F"/>
                </a:solidFill>
                <a:latin typeface="Aptos"/>
              </a:rPr>
              <a:t>at or above 2019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907792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0263C"/>
                </a:solidFill>
                <a:latin typeface="Aptos"/>
              </a:rPr>
              <a:t>Largest gains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33756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IL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54480" y="3355848"/>
            <a:ext cx="329184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554480" y="3355848"/>
            <a:ext cx="3291840" cy="146304"/>
          </a:xfrm>
          <a:prstGeom prst="rect">
            <a:avLst/>
          </a:prstGeom>
          <a:solidFill>
            <a:srgbClr val="0B776E"/>
          </a:solidFill>
          <a:ln w="1016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73752" y="331927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+14,464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379476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TX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54480" y="3813048"/>
            <a:ext cx="329184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554480" y="3813048"/>
            <a:ext cx="3249736" cy="146304"/>
          </a:xfrm>
          <a:prstGeom prst="rect">
            <a:avLst/>
          </a:prstGeom>
          <a:solidFill>
            <a:srgbClr val="0B776E"/>
          </a:solidFill>
          <a:ln w="1016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73752" y="377647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+14,279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425196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IN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554480" y="4270248"/>
            <a:ext cx="329184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554480" y="4270248"/>
            <a:ext cx="2925194" cy="146304"/>
          </a:xfrm>
          <a:prstGeom prst="rect">
            <a:avLst/>
          </a:prstGeom>
          <a:solidFill>
            <a:srgbClr val="0B776E"/>
          </a:solidFill>
          <a:ln w="1016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73752" y="423367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+12,853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" y="470916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FL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554480" y="4727448"/>
            <a:ext cx="329184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554480" y="4727448"/>
            <a:ext cx="2726510" cy="146304"/>
          </a:xfrm>
          <a:prstGeom prst="rect">
            <a:avLst/>
          </a:prstGeom>
          <a:solidFill>
            <a:srgbClr val="0B776E"/>
          </a:solidFill>
          <a:ln w="1016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73752" y="469087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+11,980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" y="516636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MO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554480" y="5184648"/>
            <a:ext cx="329184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554480" y="5184648"/>
            <a:ext cx="2537156" cy="146304"/>
          </a:xfrm>
          <a:prstGeom prst="rect">
            <a:avLst/>
          </a:prstGeom>
          <a:solidFill>
            <a:srgbClr val="0B776E"/>
          </a:solidFill>
          <a:ln w="1016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73752" y="514807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+11,148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2907792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0263C"/>
                </a:solidFill>
                <a:latin typeface="Aptos"/>
              </a:rPr>
              <a:t>Largest shortfalls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2200" y="333756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CA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30568" y="3355848"/>
            <a:ext cx="329184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30568" y="3355848"/>
            <a:ext cx="3291840" cy="146304"/>
          </a:xfrm>
          <a:prstGeom prst="rect">
            <a:avLst/>
          </a:prstGeom>
          <a:solidFill>
            <a:srgbClr val="C76B3B"/>
          </a:solidFill>
          <a:ln w="10160">
            <a:solidFill>
              <a:srgbClr val="C76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49840" y="331927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-33,282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2200" y="379476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OR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30568" y="3813048"/>
            <a:ext cx="329184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30568" y="3813048"/>
            <a:ext cx="421840" cy="146304"/>
          </a:xfrm>
          <a:prstGeom prst="rect">
            <a:avLst/>
          </a:prstGeom>
          <a:solidFill>
            <a:srgbClr val="C76B3B"/>
          </a:solidFill>
          <a:ln w="10160">
            <a:solidFill>
              <a:srgbClr val="C76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149840" y="377647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-4,265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72200" y="425196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KS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30568" y="4270248"/>
            <a:ext cx="329184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830568" y="4270248"/>
            <a:ext cx="380002" cy="146304"/>
          </a:xfrm>
          <a:prstGeom prst="rect">
            <a:avLst/>
          </a:prstGeom>
          <a:solidFill>
            <a:srgbClr val="C76B3B"/>
          </a:solidFill>
          <a:ln w="10160">
            <a:solidFill>
              <a:srgbClr val="C76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49840" y="423367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-3,842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72200" y="470916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WA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30568" y="4727448"/>
            <a:ext cx="329184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830568" y="4727448"/>
            <a:ext cx="379211" cy="146304"/>
          </a:xfrm>
          <a:prstGeom prst="rect">
            <a:avLst/>
          </a:prstGeom>
          <a:solidFill>
            <a:srgbClr val="C76B3B"/>
          </a:solidFill>
          <a:ln w="10160">
            <a:solidFill>
              <a:srgbClr val="C76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149840" y="469087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-3,834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72200" y="516636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ID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830568" y="5184648"/>
            <a:ext cx="329184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830568" y="5184648"/>
            <a:ext cx="360814" cy="146304"/>
          </a:xfrm>
          <a:prstGeom prst="rect">
            <a:avLst/>
          </a:prstGeom>
          <a:solidFill>
            <a:srgbClr val="C76B3B"/>
          </a:solidFill>
          <a:ln w="10160">
            <a:solidFill>
              <a:srgbClr val="C76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149840" y="514807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-3,648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6112" y="5715000"/>
            <a:ext cx="10012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D6D7E"/>
                </a:solidFill>
                <a:latin typeface="Aptos"/>
              </a:rPr>
              <a:t>Interpretation: the national recovery does not imply a uniform state pattern. California remains the largest absolute shortfall from 2019, while Illinois and Texas show the largest gains.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94360" y="6510528"/>
            <a:ext cx="10972800" cy="0"/>
          </a:xfrm>
          <a:prstGeom prst="line">
            <a:avLst/>
          </a:prstGeom>
          <a:ln w="1016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21792" y="6547104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IPEDS Fall Enrollment · portfolio demonstration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109960" y="652881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7E"/>
                </a:solidFill>
                <a:latin typeface="Apto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420624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DRIVERS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13232"/>
            <a:ext cx="1074420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0263C"/>
                </a:solidFill>
                <a:latin typeface="Aptos"/>
              </a:rPr>
              <a:t>Private nonprofit growth offset declines in the other control sectors.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481328"/>
            <a:ext cx="10652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D7E"/>
                </a:solidFill>
                <a:latin typeface="Aptos"/>
              </a:rPr>
              <a:t>Institution-universe accounting shows where the decade increase actually came from.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810512"/>
            <a:ext cx="5212080" cy="44074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0391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0263C"/>
                </a:solidFill>
                <a:latin typeface="Aptos"/>
              </a:rPr>
              <a:t>Change by institutional control, 2015–2024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69748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Public</a:t>
            </a:r>
          </a:p>
        </p:txBody>
      </p:sp>
      <p:sp>
        <p:nvSpPr>
          <p:cNvPr id="8" name="Rectangle 7"/>
          <p:cNvSpPr/>
          <p:nvPr/>
        </p:nvSpPr>
        <p:spPr>
          <a:xfrm>
            <a:off x="1554480" y="2715768"/>
            <a:ext cx="301752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554480" y="2715768"/>
            <a:ext cx="586089" cy="146304"/>
          </a:xfrm>
          <a:prstGeom prst="rect">
            <a:avLst/>
          </a:prstGeom>
          <a:solidFill>
            <a:srgbClr val="C76B3B"/>
          </a:solidFill>
          <a:ln w="10160">
            <a:solidFill>
              <a:srgbClr val="C76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9431" y="267919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-16,087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355848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Priv. nonprofit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54480" y="3374136"/>
            <a:ext cx="301752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554480" y="3374136"/>
            <a:ext cx="3017520" cy="146304"/>
          </a:xfrm>
          <a:prstGeom prst="rect">
            <a:avLst/>
          </a:prstGeom>
          <a:solidFill>
            <a:srgbClr val="0B776E"/>
          </a:solidFill>
          <a:ln w="1016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9431" y="3337560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+82,825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4014216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Priv. for-profit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554480" y="4032504"/>
            <a:ext cx="301752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554480" y="4032504"/>
            <a:ext cx="121611" cy="146304"/>
          </a:xfrm>
          <a:prstGeom prst="rect">
            <a:avLst/>
          </a:prstGeom>
          <a:solidFill>
            <a:srgbClr val="C76B3B"/>
          </a:solidFill>
          <a:ln w="10160">
            <a:solidFill>
              <a:srgbClr val="C76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99431" y="3995928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-3,338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5074920"/>
            <a:ext cx="4480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D6D7E"/>
                </a:solidFill>
                <a:latin typeface="Aptos"/>
              </a:rPr>
              <a:t>Private nonprofit institutions increased by 82,825 students and shifted the national control mix toward nonprofit institutions.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53328" y="1810512"/>
            <a:ext cx="5541264" cy="4407408"/>
          </a:xfrm>
          <a:prstGeom prst="roundRect">
            <a:avLst/>
          </a:prstGeom>
          <a:solidFill>
            <a:srgbClr val="10263C"/>
          </a:solidFill>
          <a:ln w="10160">
            <a:solidFill>
              <a:srgbClr val="1026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2512" y="2066543"/>
            <a:ext cx="4480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8ED9D0"/>
                </a:solidFill>
                <a:latin typeface="Aptos"/>
              </a:rPr>
              <a:t>INSTITUTION-UNIVERSE ACCOUNTING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260604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9FB0C0"/>
                </a:solidFill>
                <a:latin typeface="Aptos"/>
              </a:rPr>
              <a:t>Continuing institutions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2450592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"/>
              </a:rPr>
              <a:t>+66,981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382512" y="3090672"/>
            <a:ext cx="4297680" cy="0"/>
          </a:xfrm>
          <a:prstGeom prst="line">
            <a:avLst/>
          </a:prstGeom>
          <a:ln w="12700">
            <a:solidFill>
              <a:srgbClr val="3A4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382512" y="3438144"/>
            <a:ext cx="2148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9FB0C0"/>
                </a:solidFill>
                <a:latin typeface="Aptos"/>
              </a:rPr>
              <a:t>Universe entry / exit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0" y="3282696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"/>
              </a:rPr>
              <a:t>-3,581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382512" y="3922776"/>
            <a:ext cx="4297680" cy="0"/>
          </a:xfrm>
          <a:prstGeom prst="line">
            <a:avLst/>
          </a:prstGeom>
          <a:ln w="12700">
            <a:solidFill>
              <a:srgbClr val="3A4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382512" y="4288536"/>
            <a:ext cx="2148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D4DEE7"/>
                </a:solidFill>
                <a:latin typeface="Aptos"/>
              </a:rPr>
              <a:t>National decade change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0" y="4105656"/>
            <a:ext cx="22860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2500" b="1">
                <a:solidFill>
                  <a:srgbClr val="8ED9D0"/>
                </a:solidFill>
                <a:latin typeface="Aptos"/>
              </a:rPr>
              <a:t>+63,400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82512" y="4983480"/>
            <a:ext cx="4343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D4DEE7"/>
                </a:solidFill>
                <a:latin typeface="Aptos"/>
              </a:rPr>
              <a:t>The increase was created inside continuing institutions, not by adding more institutions to the analytic universe.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94360" y="6510528"/>
            <a:ext cx="10972800" cy="0"/>
          </a:xfrm>
          <a:prstGeom prst="line">
            <a:avLst/>
          </a:prstGeom>
          <a:ln w="1016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21792" y="6547104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IPEDS Fall Enrollment · portfolio demonstration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09960" y="652881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7E"/>
                </a:solidFill>
                <a:latin typeface="Apto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420624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INTERPRETATION AND QA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49808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0263C"/>
                </a:solidFill>
                <a:latin typeface="Aptos"/>
              </a:rPr>
              <a:t>Use the trend. Keep the boundaries visible.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98448"/>
            <a:ext cx="10652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D7E"/>
                </a:solidFill>
                <a:latin typeface="Aptos"/>
              </a:rPr>
              <a:t>Management summary over validated analytical outputs; definitions, vintage, and institution-level QA still govern reuse.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847088"/>
            <a:ext cx="5349240" cy="43159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263C"/>
                </a:solidFill>
                <a:latin typeface="Aptos"/>
              </a:rPr>
              <a:t>What a manager can take away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2724912"/>
            <a:ext cx="82296" cy="82296"/>
          </a:xfrm>
          <a:prstGeom prst="ellipse">
            <a:avLst/>
          </a:prstGeom>
          <a:solidFill>
            <a:srgbClr val="0B776E"/>
          </a:solidFill>
          <a:ln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651760"/>
            <a:ext cx="4178808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263C"/>
                </a:solidFill>
                <a:latin typeface="Aptos"/>
              </a:rPr>
              <a:t>Latest direction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935224"/>
            <a:ext cx="41788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D6D7E"/>
                </a:solidFill>
                <a:latin typeface="Aptos"/>
              </a:rPr>
              <a:t>2024 U.S. nonresident enrollment increased +29,539 (+2.9%) from 2023.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3529584"/>
            <a:ext cx="82296" cy="82296"/>
          </a:xfrm>
          <a:prstGeom prst="ellipse">
            <a:avLst/>
          </a:prstGeom>
          <a:solidFill>
            <a:srgbClr val="0B776E"/>
          </a:solidFill>
          <a:ln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3456432"/>
            <a:ext cx="4178808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263C"/>
                </a:solidFill>
                <a:latin typeface="Aptos"/>
              </a:rPr>
              <a:t>Recovery pattern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" y="3739896"/>
            <a:ext cx="41788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D6D7E"/>
                </a:solidFill>
                <a:latin typeface="Aptos"/>
              </a:rPr>
              <a:t>33 states/DC are at or above 2019, but 18 remain below the pre-pandemic baseline.</a:t>
            </a:r>
          </a:p>
        </p:txBody>
      </p:sp>
      <p:sp>
        <p:nvSpPr>
          <p:cNvPr id="13" name="Oval 12"/>
          <p:cNvSpPr/>
          <p:nvPr/>
        </p:nvSpPr>
        <p:spPr>
          <a:xfrm>
            <a:off x="914400" y="4334256"/>
            <a:ext cx="82296" cy="82296"/>
          </a:xfrm>
          <a:prstGeom prst="ellipse">
            <a:avLst/>
          </a:prstGeom>
          <a:solidFill>
            <a:srgbClr val="0B776E"/>
          </a:solidFill>
          <a:ln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4261104"/>
            <a:ext cx="4178808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263C"/>
                </a:solidFill>
                <a:latin typeface="Aptos"/>
              </a:rPr>
              <a:t>Structural driver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4544568"/>
            <a:ext cx="41788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D6D7E"/>
                </a:solidFill>
                <a:latin typeface="Aptos"/>
              </a:rPr>
              <a:t>Over the full decade, growth was graduate-heavy and concentrated in private nonprofit institutions and continuing institutions.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138928"/>
            <a:ext cx="82296" cy="82296"/>
          </a:xfrm>
          <a:prstGeom prst="ellipse">
            <a:avLst/>
          </a:prstGeom>
          <a:solidFill>
            <a:srgbClr val="0B776E"/>
          </a:solidFill>
          <a:ln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78992" y="5065776"/>
            <a:ext cx="4178808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263C"/>
                </a:solidFill>
                <a:latin typeface="Aptos"/>
              </a:rPr>
              <a:t>Next reporting cycle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" y="5349240"/>
            <a:ext cx="41788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D6D7E"/>
                </a:solidFill>
                <a:latin typeface="Aptos"/>
              </a:rPr>
              <a:t>R01 is pre-specified: call the undergraduate shift broadly persistent only if the next complete release is positive nationally and in at least 26 of 51 states/DC.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1847088"/>
            <a:ext cx="5394960" cy="4315968"/>
          </a:xfrm>
          <a:prstGeom prst="roundRect">
            <a:avLst/>
          </a:prstGeom>
          <a:solidFill>
            <a:srgbClr val="F0F4F7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103120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263C"/>
                </a:solidFill>
                <a:latin typeface="Aptos"/>
              </a:rPr>
              <a:t>Guardrails before reuse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697480"/>
            <a:ext cx="310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76288" y="2679192"/>
            <a:ext cx="39593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263C"/>
                </a:solidFill>
                <a:latin typeface="Aptos"/>
              </a:rPr>
              <a:t>Population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76288" y="2962656"/>
            <a:ext cx="39593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D6D7E"/>
                </a:solidFill>
                <a:latin typeface="Aptos"/>
              </a:rPr>
              <a:t>IPEDS U.S. nonresident is not interchangeable with immigrant-origin, undocumented, refugee/asylee, or all international-student populations.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483864"/>
            <a:ext cx="310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76288" y="3465576"/>
            <a:ext cx="39593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263C"/>
                </a:solidFill>
                <a:latin typeface="Aptos"/>
              </a:rPr>
              <a:t>Vintage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76288" y="3749039"/>
            <a:ext cx="39593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D6D7E"/>
                </a:solidFill>
                <a:latin typeface="Aptos"/>
              </a:rPr>
              <a:t>2024 is treated as provisional and can differ slightly from earlier Digest releases built from earlier files.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4270248"/>
            <a:ext cx="310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76288" y="4251960"/>
            <a:ext cx="39593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263C"/>
                </a:solidFill>
                <a:latin typeface="Aptos"/>
              </a:rPr>
              <a:t>Institution flags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76288" y="4535424"/>
            <a:ext cx="39593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D6D7E"/>
                </a:solidFill>
                <a:latin typeface="Aptos"/>
              </a:rPr>
              <a:t>Large institution-level movements are triaged and evidence-reviewed before they support institution-specific public claims.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5056631"/>
            <a:ext cx="310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76288" y="5038344"/>
            <a:ext cx="39593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263C"/>
                </a:solidFill>
                <a:latin typeface="Aptos"/>
              </a:rPr>
              <a:t>Authority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76288" y="5321807"/>
            <a:ext cx="39593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D6D7E"/>
                </a:solidFill>
                <a:latin typeface="Aptos"/>
              </a:rPr>
              <a:t>CSV/JSON outputs remain authoritative; this PPTX, the Excel workbook, PDF, and website are downstream presentation artifacts.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5715000"/>
            <a:ext cx="4434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80" b="0">
                <a:solidFill>
                  <a:srgbClr val="5D6D7E"/>
                </a:solidFill>
                <a:latin typeface="Aptos"/>
              </a:rPr>
              <a:t>Source: NCES IPEDS Fall Enrollment and Institutional Characteristics, 2015–2024. Geography: 50 states + DC. Universe: degree-granting First Look/Digest Title IV institutions.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94360" y="6510528"/>
            <a:ext cx="10972800" cy="0"/>
          </a:xfrm>
          <a:prstGeom prst="line">
            <a:avLst/>
          </a:prstGeom>
          <a:ln w="1016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21792" y="6547104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IPEDS Fall Enrollment · portfolio demonstration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09960" y="652881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7E"/>
                </a:solidFill>
                <a:latin typeface="Aptos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U.S. Nonresident Enrollment Management Briefing</dc:title>
  <dc:subject>Portfolio management briefing generated from validated IPEDS outputs</dc:subject>
  <dc:creator>Portfolio demonstration</dc:creator>
  <cp:keywords>IPEDS, analyst, PowerPoint, management briefing, portfolio</cp:keywords>
  <dc:description>Downstream presentation artifact; validated CSV/JSON outputs remain authoritative.</dc:description>
  <cp:lastModifiedBy>Steve Canny</cp:lastModifiedBy>
  <cp:revision>1</cp:revision>
  <dcterms:created xsi:type="dcterms:W3CDTF">2026-10-13T00:00:00Z</dcterms:created>
  <dcterms:modified xsi:type="dcterms:W3CDTF">2026-10-13T00:00:00Z</dcterms:modified>
  <cp:category/>
</cp:coreProperties>
</file>