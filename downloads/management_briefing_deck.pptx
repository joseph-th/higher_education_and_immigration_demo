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MANAGEMENT BRIEFING · PORTFOLIO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658368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900" b="1">
                <a:solidFill>
                  <a:srgbClr val="10263C"/>
                </a:solidFill>
                <a:latin typeface="Aptos"/>
              </a:rPr>
              <a:t>U.S. nonresident
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79776"/>
            <a:ext cx="6080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D6D7E"/>
                </a:solidFill>
                <a:latin typeface="Aptos"/>
              </a:rPr>
              <a:t>What changed from 2015 to 2024, where recovery differs, and what a manager should know before using the figures.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416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D6D7E"/>
                </a:solidFill>
                <a:latin typeface="Aptos"/>
              </a:rPr>
              <a:t>IPEDS Fall Enrollment · 50 states + DC · 2024 provisional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25696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7564F"/>
                </a:solidFill>
                <a:latin typeface="Aptos"/>
              </a:rPr>
              <a:t>Not a measure of all immigrants or all international students.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0"/>
            <a:ext cx="4465015" cy="6858000"/>
          </a:xfrm>
          <a:prstGeom prst="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024128"/>
            <a:ext cx="3520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FB0C0"/>
                </a:solidFill>
                <a:latin typeface="Aptos"/>
              </a:rPr>
              <a:t>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481328"/>
            <a:ext cx="35204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12848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4DEE7"/>
                </a:solidFill>
                <a:latin typeface="Aptos"/>
              </a:rPr>
              <a:t>U.S. nonresident students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83879" y="2871216"/>
            <a:ext cx="3200401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83879" y="3182112"/>
            <a:ext cx="3520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369417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4DEE7"/>
                </a:solidFill>
                <a:latin typeface="Aptos"/>
              </a:rPr>
              <a:t>since 2015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846320"/>
            <a:ext cx="3383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Prepared as a reviewer-facing management deck from the same validated outputs used by the public brief, Excel workbook, and SQL analysis.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996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Higher Education Data Brief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The latest year rose, but the composition of growth changed.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Four numbers establish the current reporting picture before deeper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RECOVERED VS 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33 of 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18 remain below 2019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1097280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in the latest 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96512"/>
            <a:ext cx="28620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Undergraduate growth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379976"/>
            <a:ext cx="2862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Undergraduate U.S. nonresident enrollment increased +31,592 in 2024.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096512"/>
            <a:ext cx="29535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Graduate enrollment edged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379976"/>
            <a:ext cx="2953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Graduate enrollment changed -2,053, so the net gain was not graduate-driven in the latest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096512"/>
            <a:ext cx="313639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Most movement was within existing institutions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379976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Continuing institutions accounted for +29,968; entry/exit netted -429.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INTERPRETATION AND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Use the trend for reporting, but keep the definition and release boundaries 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This deck is a management-facing presentation layer over validated analytical outputs.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5349240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a manager can take away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72491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Latest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3522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U.S. nonresident enrollment increased +29,539 (+2.9%) from 2023.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2958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45643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Recovery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73989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2019, but 18 remain below the pre-pandemic baseline.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334256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61104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Structural 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544568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Over the full decade, growth was graduate-heavy and concentrated in private nonprofit institutions and continuing institutions.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138928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065776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 reporting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5349240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When a new IPEDS release arrives, rerun schema, QA, benchmark, SQL, and publication checks before refreshing this deck.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847088"/>
            <a:ext cx="5394960" cy="4315968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031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267919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6265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483864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3465576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749039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27024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425196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Institution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3542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Large institution-level movements are triaged and evidence-reviewed before they support institution-specific public claims.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056631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5038344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5321807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715000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>
                <a:solidFill>
                  <a:srgbClr val="5D6D7E"/>
                </a:solidFill>
                <a:latin typeface="Aptos"/>
              </a:rPr>
              <a:t>Source: NCES IPEDS Fall Enrollment and Institutional Characteristics, 2015–2024. Geography: 50 states + DC. Universe: degree-granting First Look/Digest Title IV institutions.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