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MANAGEMENT BRIEFING · PORTFOLIO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170432"/>
            <a:ext cx="658368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900" b="1">
                <a:solidFill>
                  <a:srgbClr val="10263C"/>
                </a:solidFill>
                <a:latin typeface="Aptos"/>
              </a:rPr>
              <a:t>U.S. nonresident
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79776"/>
            <a:ext cx="6080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D6D7E"/>
                </a:solidFill>
                <a:latin typeface="Aptos"/>
              </a:rPr>
              <a:t>What changed from 2015 to 2024, where recovery differs, and what a manager should know before using the figures.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4041648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D6D7E"/>
                </a:solidFill>
                <a:latin typeface="Aptos"/>
              </a:rPr>
              <a:t>IPEDS Fall Enrollment · 50 states + DC · 2024 provisional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25696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07564F"/>
                </a:solidFill>
                <a:latin typeface="Aptos"/>
              </a:rPr>
              <a:t>Not a measure of all immigrants or all international students.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0"/>
            <a:ext cx="4465015" cy="6858000"/>
          </a:xfrm>
          <a:prstGeom prst="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83879" y="1024128"/>
            <a:ext cx="35204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9FB0C0"/>
                </a:solidFill>
                <a:latin typeface="Aptos"/>
              </a:rPr>
              <a:t>2024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1481328"/>
            <a:ext cx="35204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500" b="1">
                <a:solidFill>
                  <a:srgbClr val="FFFFFF"/>
                </a:solidFill>
                <a:latin typeface="Aptos"/>
              </a:rPr>
              <a:t>1,044,137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2212848"/>
            <a:ext cx="3520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4DEE7"/>
                </a:solidFill>
                <a:latin typeface="Aptos"/>
              </a:rPr>
              <a:t>U.S. nonresident students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83879" y="2871216"/>
            <a:ext cx="3200401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83879" y="3182112"/>
            <a:ext cx="35204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3694176"/>
            <a:ext cx="3520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4DEE7"/>
                </a:solidFill>
                <a:latin typeface="Aptos"/>
              </a:rPr>
              <a:t>since 2015 (+6.5%)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846320"/>
            <a:ext cx="33832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D4DEE7"/>
                </a:solidFill>
                <a:latin typeface="Aptos"/>
              </a:rPr>
              <a:t>Prepared as a reviewer-facing management deck from the same validated outputs used by the public brief, Excel workbook, and SQL analysis.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199632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Higher Education Data Brief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The latest year rose, but the composition of growth changed.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Four numbers establish the current reporting picture before deeper analysis.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74519"/>
            <a:ext cx="2606040" cy="1216152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9FB0C0"/>
                </a:solidFill>
                <a:latin typeface="Aptos"/>
              </a:rPr>
              <a:t>2024 ENROLLMENT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1,044,137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D4DEE7"/>
                </a:solidFill>
                <a:latin typeface="Aptos"/>
              </a:rPr>
              <a:t>5.3% of total enrollment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649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2023 →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+29,539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95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+2.9%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081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RECOVERED VS 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3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33 of 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3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18 remain below 2019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51392" y="1874519"/>
            <a:ext cx="2606040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020824"/>
            <a:ext cx="22768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>
                <a:solidFill>
                  <a:srgbClr val="5D6D7E"/>
                </a:solidFill>
                <a:latin typeface="Aptos"/>
              </a:rPr>
              <a:t>2015 → 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322576"/>
            <a:ext cx="22768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0263C"/>
                </a:solidFill>
                <a:latin typeface="Aptos"/>
              </a:rPr>
              <a:t>+63,400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15984" y="2770632"/>
            <a:ext cx="2276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D6D7E"/>
                </a:solidFill>
                <a:latin typeface="Aptos"/>
              </a:rPr>
              <a:t>+6.5%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" y="3383280"/>
            <a:ext cx="10972800" cy="2514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639312"/>
            <a:ext cx="3840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63C"/>
                </a:solidFill>
                <a:latin typeface="Aptos"/>
              </a:rPr>
              <a:t>What changed in the latest release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96512"/>
            <a:ext cx="28620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Undergraduate growth 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379976"/>
            <a:ext cx="2862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Undergraduate enrollment increased +31,592 across 45 of 51 states/DC; public institutions contributed +28,580.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4096512"/>
            <a:ext cx="295351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Graduate enrollment edged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44568" y="4379976"/>
            <a:ext cx="2953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Graduate enrollment changed -2,053, so the net gain was not graduate-driven in the latest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411480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9288" y="4096512"/>
            <a:ext cx="313639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Existing institutions drove the gain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379976"/>
            <a:ext cx="3136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Continuing institutions accounted for +29,968; entry/exit netted -429.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NATIONAL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Enrollment recovered above 2015 levels after the 2020 shock.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The decade result is positive, but the student-level mix changed substantially.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754380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93392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U.S. nonresident enrollment,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8600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students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54480" y="5054205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96112" y="4981053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0.85m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554480" y="3966447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96112" y="3893295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0.95m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554480" y="2878688"/>
            <a:ext cx="6035039" cy="0"/>
          </a:xfrm>
          <a:prstGeom prst="line">
            <a:avLst/>
          </a:prstGeom>
          <a:ln w="889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96112" y="2805536"/>
            <a:ext cx="5120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1.05m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868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9800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19" y="5394960"/>
            <a:ext cx="457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2024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1554480" y="3461911"/>
            <a:ext cx="670560" cy="1701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2225040" y="3439199"/>
            <a:ext cx="670560" cy="2271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95600" y="3439199"/>
            <a:ext cx="670559" cy="10859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566159" y="3547790"/>
            <a:ext cx="670561" cy="167841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236720" y="3715631"/>
            <a:ext cx="670560" cy="1370337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907280" y="4706166"/>
            <a:ext cx="670560" cy="3798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577840" y="3816978"/>
            <a:ext cx="670560" cy="889188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48400" y="3263776"/>
            <a:ext cx="670560" cy="553202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918960" y="2942463"/>
            <a:ext cx="670559" cy="321313"/>
          </a:xfrm>
          <a:prstGeom prst="line">
            <a:avLst/>
          </a:prstGeom>
          <a:ln w="33020">
            <a:solidFill>
              <a:srgbClr val="0B77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1504188" y="3581810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174747" y="341161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845307" y="3388907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15867" y="349749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186428" y="3665339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856988" y="503567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27548" y="465587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198108" y="3766686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68668" y="3213484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39227" y="2892171"/>
            <a:ext cx="100584" cy="100584"/>
          </a:xfrm>
          <a:prstGeom prst="ellipse">
            <a:avLst/>
          </a:prstGeom>
          <a:solidFill>
            <a:srgbClr val="0B776E"/>
          </a:solidFill>
          <a:ln w="1778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19" y="255841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10263C"/>
                </a:solidFill>
                <a:latin typeface="Aptos"/>
              </a:rPr>
              <a:t>1,044,137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66760" y="1810512"/>
            <a:ext cx="3227832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68512" y="2075688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DECADE COMPOSITION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68512" y="2578608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Graduate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2816352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+138,765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68512" y="32004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+33.3%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668512" y="3593592"/>
            <a:ext cx="251460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8668512" y="3877056"/>
            <a:ext cx="1645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9FB0C0"/>
                </a:solidFill>
                <a:latin typeface="Aptos"/>
              </a:rPr>
              <a:t>Undergraduate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68512" y="411480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-75,365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68512" y="4498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D4DEE7"/>
                </a:solidFill>
                <a:latin typeface="Aptos"/>
              </a:rPr>
              <a:t>-13.4%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68512" y="507492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9FB0C0"/>
                </a:solidFill>
                <a:latin typeface="Aptos"/>
              </a:rPr>
              <a:t>Net decade change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68512" y="5340096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49808"/>
            <a:ext cx="10744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0263C"/>
                </a:solidFill>
                <a:latin typeface="Aptos"/>
              </a:rPr>
              <a:t>Recovery is broad, but not uniform across states.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2984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Change below is relative to the 2019 pre-pandemic baseline.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783080"/>
            <a:ext cx="10972800" cy="44988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2011680"/>
            <a:ext cx="2011680" cy="658368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E8F3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2167128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7564F"/>
                </a:solidFill>
                <a:latin typeface="Aptos"/>
              </a:rPr>
              <a:t>33 of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95728"/>
            <a:ext cx="1737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07564F"/>
                </a:solidFill>
                <a:latin typeface="Aptos"/>
              </a:rPr>
              <a:t>at or above 2019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gains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554480" y="3355848"/>
            <a:ext cx="329184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73752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+14,464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TX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554480" y="3813048"/>
            <a:ext cx="324973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3752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+14,279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54480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554480" y="4270248"/>
            <a:ext cx="2925194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73752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+12,853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FL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54480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554480" y="4727448"/>
            <a:ext cx="272651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+11,980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54480" y="5184648"/>
            <a:ext cx="2537156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3752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+11,148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07792"/>
            <a:ext cx="3840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Largest shortfalls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33375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CA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30568" y="3355848"/>
            <a:ext cx="329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33192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-33,282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37947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30568" y="38130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30568" y="3813048"/>
            <a:ext cx="421840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49840" y="37764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-4,265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42519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KS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30568" y="42702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830568" y="4270248"/>
            <a:ext cx="380002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49840" y="42336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-3,842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72200" y="47091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WA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7274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30568" y="4727448"/>
            <a:ext cx="3792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49840" y="46908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-3,834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2200" y="516636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ID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30568" y="5184648"/>
            <a:ext cx="329184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830568" y="5184648"/>
            <a:ext cx="360814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149840" y="514807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-3,648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715000"/>
            <a:ext cx="10012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Interpretation: the national recovery does not imply a uniform state pattern. California remains the largest absolute shortfall from 2019, while Illinois and Texas show the largest gains.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DRIVERS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13232"/>
            <a:ext cx="10744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0263C"/>
                </a:solidFill>
                <a:latin typeface="Aptos"/>
              </a:rPr>
              <a:t>Private nonprofit growth offset declines in the other control sectors.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Institution-universe accounting shows where the decade increase actually came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10512"/>
            <a:ext cx="521208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0263C"/>
                </a:solidFill>
                <a:latin typeface="Aptos"/>
              </a:rPr>
              <a:t>Change by institutional control, 2015–2024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97480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Public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2715768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54480" y="2715768"/>
            <a:ext cx="586089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1" y="2679192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-16,087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355848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nonprofit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54480" y="3374136"/>
            <a:ext cx="3017520" cy="146304"/>
          </a:xfrm>
          <a:prstGeom prst="rect">
            <a:avLst/>
          </a:prstGeom>
          <a:solidFill>
            <a:srgbClr val="0B776E"/>
          </a:solidFill>
          <a:ln w="10160"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9431" y="3337560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+82,825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4014216"/>
            <a:ext cx="5303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10263C"/>
                </a:solidFill>
                <a:latin typeface="Aptos"/>
              </a:rPr>
              <a:t>Priv. for-profit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554480" y="4032504"/>
            <a:ext cx="3017520" cy="146304"/>
          </a:xfrm>
          <a:prstGeom prst="rect">
            <a:avLst/>
          </a:prstGeom>
          <a:solidFill>
            <a:srgbClr val="F0F4F7"/>
          </a:solidFill>
          <a:ln w="10160">
            <a:solidFill>
              <a:srgbClr val="F0F4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54480" y="4032504"/>
            <a:ext cx="121611" cy="146304"/>
          </a:xfrm>
          <a:prstGeom prst="rect">
            <a:avLst/>
          </a:prstGeom>
          <a:solidFill>
            <a:srgbClr val="C76B3B"/>
          </a:solidFill>
          <a:ln w="10160">
            <a:solidFill>
              <a:srgbClr val="C76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1" y="3995928"/>
            <a:ext cx="804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>
                <a:solidFill>
                  <a:srgbClr val="5D6D7E"/>
                </a:solidFill>
                <a:latin typeface="Aptos"/>
              </a:rPr>
              <a:t>-3,338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5074920"/>
            <a:ext cx="4480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D6D7E"/>
                </a:solidFill>
                <a:latin typeface="Aptos"/>
              </a:rPr>
              <a:t>Private nonprofit institutions increased by 82,825 students and shifted the national control mix toward nonprofit institutions.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53328" y="1810512"/>
            <a:ext cx="5541264" cy="4407408"/>
          </a:xfrm>
          <a:prstGeom prst="roundRect">
            <a:avLst/>
          </a:prstGeom>
          <a:solidFill>
            <a:srgbClr val="10263C"/>
          </a:solidFill>
          <a:ln w="10160">
            <a:solidFill>
              <a:srgbClr val="102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2066543"/>
            <a:ext cx="4480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ED9D0"/>
                </a:solidFill>
                <a:latin typeface="Aptos"/>
              </a:rPr>
              <a:t>INSTITUTION-UNIVERSE ACCOUNTING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260604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Continuing institutions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450592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+66,981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382512" y="3090672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382512" y="3438144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9FB0C0"/>
                </a:solidFill>
                <a:latin typeface="Aptos"/>
              </a:rPr>
              <a:t>Universe entry / exit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3282696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"/>
              </a:rPr>
              <a:t>-3,581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382512" y="3922776"/>
            <a:ext cx="4297680" cy="0"/>
          </a:xfrm>
          <a:prstGeom prst="line">
            <a:avLst/>
          </a:prstGeom>
          <a:ln w="12700">
            <a:solidFill>
              <a:srgbClr val="3A4B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382512" y="4288536"/>
            <a:ext cx="2148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D4DEE7"/>
                </a:solidFill>
                <a:latin typeface="Aptos"/>
              </a:rPr>
              <a:t>National decade 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240" y="4105656"/>
            <a:ext cx="22860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500" b="1">
                <a:solidFill>
                  <a:srgbClr val="8ED9D0"/>
                </a:solidFill>
                <a:latin typeface="Aptos"/>
              </a:rPr>
              <a:t>+63,400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82512" y="4983480"/>
            <a:ext cx="4343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D4DEE7"/>
                </a:solidFill>
                <a:latin typeface="Aptos"/>
              </a:rPr>
              <a:t>The increase was created inside continuing institutions, not by adding more institutions to the analytic universe.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20624"/>
            <a:ext cx="3657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INTERPRETATION AND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713232"/>
            <a:ext cx="10744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0263C"/>
                </a:solidFill>
                <a:latin typeface="Aptos"/>
              </a:rPr>
              <a:t>Use the trend for reporting, but keep the definition and release boundaries visible.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48132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5D6D7E"/>
                </a:solidFill>
                <a:latin typeface="Aptos"/>
              </a:rPr>
              <a:t>This deck is a management-facing presentation layer over validated analytical outputs.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847088"/>
            <a:ext cx="5349240" cy="43159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What a manager can take away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724912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651760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Latest direction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935224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U.S. nonresident enrollment increased +29,539 (+2.9%) from 2023.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29584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3456432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Recovery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3739896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33 states/DC are at or above 2019, but 18 remain below the pre-pandemic baseline.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334256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261104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Structural driver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4544568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Over the full decade, growth was graduate-heavy and concentrated in private nonprofit institutions and continuing institutions.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138928"/>
            <a:ext cx="82296" cy="82296"/>
          </a:xfrm>
          <a:prstGeom prst="ellipse">
            <a:avLst/>
          </a:prstGeom>
          <a:solidFill>
            <a:srgbClr val="0B776E"/>
          </a:solidFill>
          <a:ln>
            <a:solidFill>
              <a:srgbClr val="0B77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5065776"/>
            <a:ext cx="4178808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Next reporting 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5349240"/>
            <a:ext cx="41788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R01 is pre-specified: call the undergraduate shift broadly persistent only if the next complete release is positive nationally and in at least 26 of 51 states/DC.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847088"/>
            <a:ext cx="5394960" cy="4315968"/>
          </a:xfrm>
          <a:prstGeom prst="roundRect">
            <a:avLst/>
          </a:prstGeom>
          <a:solidFill>
            <a:srgbClr val="F0F4F7"/>
          </a:solidFill>
          <a:ln w="10160">
            <a:solidFill>
              <a:srgbClr val="D9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0312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0263C"/>
                </a:solidFill>
                <a:latin typeface="Aptos"/>
              </a:rPr>
              <a:t>Guardrails before reuse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97480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76288" y="2679192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Population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76288" y="2962656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IPEDS U.S. nonresident is not interchangeable with immigrant-origin, undocumented, refugee/asylee, or all international-student populations.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483864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76288" y="3465576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Vintage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76288" y="3749039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2024 is treated as provisional and can differ slightly from earlier Digest releases built from earlier files.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4270248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76288" y="4251960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Institution flags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6288" y="4535424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Large institution-level movements are triaged and evidence-reviewed before they support institution-specific public claims.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056631"/>
            <a:ext cx="31089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07564F"/>
                </a:solidFill>
                <a:latin typeface="Aptos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76288" y="5038344"/>
            <a:ext cx="395935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0263C"/>
                </a:solidFill>
                <a:latin typeface="Aptos"/>
              </a:rPr>
              <a:t>Authority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76288" y="5321807"/>
            <a:ext cx="39593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D6D7E"/>
                </a:solidFill>
                <a:latin typeface="Aptos"/>
              </a:rPr>
              <a:t>CSV/JSON outputs remain authoritative; this PPTX, the Excel workbook, PDF, and website are downstream presentation artifacts.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715000"/>
            <a:ext cx="44348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0">
                <a:solidFill>
                  <a:srgbClr val="5D6D7E"/>
                </a:solidFill>
                <a:latin typeface="Aptos"/>
              </a:rPr>
              <a:t>Source: NCES IPEDS Fall Enrollment and Institutional Characteristics, 2015–2024. Geography: 50 states + DC. Universe: degree-granting First Look/Digest Title IV institutions.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94360" y="6510528"/>
            <a:ext cx="10972800" cy="0"/>
          </a:xfrm>
          <a:prstGeom prst="line">
            <a:avLst/>
          </a:prstGeom>
          <a:ln w="10160">
            <a:solidFill>
              <a:srgbClr val="D9E1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21792" y="6547104"/>
            <a:ext cx="8961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5D6D7E"/>
                </a:solidFill>
                <a:latin typeface="Aptos"/>
              </a:rPr>
              <a:t>IPEDS Fall Enrollment · portfolio demonstration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52881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7E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U.S. Nonresident Enrollment Management Briefing</dc:title>
  <dc:subject>Portfolio management briefing generated from validated IPEDS outputs</dc:subject>
  <dc:creator>Portfolio demonstration</dc:creator>
  <cp:keywords>IPEDS, analyst, PowerPoint, management briefing, portfolio</cp:keywords>
  <dc:description>Downstream presentation artifact; validated CSV/JSON outputs remain authoritative.</dc:description>
  <cp:lastModifiedBy>Steve Canny</cp:lastModifiedBy>
  <cp:revision>1</cp:revision>
  <dcterms:created xsi:type="dcterms:W3CDTF">2026-10-13T00:00:00Z</dcterms:created>
  <dcterms:modified xsi:type="dcterms:W3CDTF">2026-10-13T00:00:00Z</dcterms:modified>
  <cp:category/>
</cp:coreProperties>
</file>