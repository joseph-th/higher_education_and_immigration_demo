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U.S. NONRESIDENT ENROLLMENT ·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63C"/>
                </a:solidFill>
                <a:latin typeface="Aptos"/>
              </a:rPr>
              <a:t>2024 growth shifted toward undergraduates.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D7E"/>
                </a:solidFill>
                <a:latin typeface="Aptos"/>
              </a:rPr>
              <a:t>Long-run recovery is still graduate-heavy and uneven across states.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74519"/>
            <a:ext cx="2606040" cy="1216152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10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020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9FB0C0"/>
                </a:solidFill>
                <a:latin typeface="Aptos"/>
              </a:rPr>
              <a:t>2024 ENROLLMENT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22576"/>
            <a:ext cx="2276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1,044,137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70632"/>
            <a:ext cx="2276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4DEE7"/>
                </a:solidFill>
                <a:latin typeface="Aptos"/>
              </a:rPr>
              <a:t>5.3% of total enrollment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874519"/>
            <a:ext cx="260604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020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D6D7E"/>
                </a:solidFill>
                <a:latin typeface="Aptos"/>
              </a:rPr>
              <a:t>2023 →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322576"/>
            <a:ext cx="2276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0263C"/>
                </a:solidFill>
                <a:latin typeface="Aptos"/>
              </a:rPr>
              <a:t>+29,539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770632"/>
            <a:ext cx="2276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D6D7E"/>
                </a:solidFill>
                <a:latin typeface="Aptos"/>
              </a:rPr>
              <a:t>+2.9%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874519"/>
            <a:ext cx="260604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2020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D6D7E"/>
                </a:solidFill>
                <a:latin typeface="Aptos"/>
              </a:rPr>
              <a:t>UNDERGRADUATE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2322576"/>
            <a:ext cx="2276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0263C"/>
                </a:solidFill>
                <a:latin typeface="Aptos"/>
              </a:rPr>
              <a:t>+31,592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3" y="2770632"/>
            <a:ext cx="2276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D6D7E"/>
                </a:solidFill>
                <a:latin typeface="Aptos"/>
              </a:rPr>
              <a:t>45 of 51 states/DC increased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1874519"/>
            <a:ext cx="260604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5984" y="2020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D6D7E"/>
                </a:solidFill>
                <a:latin typeface="Aptos"/>
              </a:rPr>
              <a:t>2015 →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2322576"/>
            <a:ext cx="2276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0263C"/>
                </a:solidFill>
                <a:latin typeface="Aptos"/>
              </a:rPr>
              <a:t>+63,400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2770632"/>
            <a:ext cx="2276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D6D7E"/>
                </a:solidFill>
                <a:latin typeface="Aptos"/>
              </a:rPr>
              <a:t>+6.5%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383280"/>
            <a:ext cx="690372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63931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63C"/>
                </a:solidFill>
                <a:latin typeface="Aptos"/>
              </a:rPr>
              <a:t>What changed from 2023 to 2024?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941063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Change in U.S. nonresident enrollment by student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334256"/>
            <a:ext cx="1225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0263C"/>
                </a:solidFill>
                <a:latin typeface="Aptos"/>
              </a:rPr>
              <a:t>Undergraduate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4370831"/>
            <a:ext cx="3758184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165092" y="4334256"/>
            <a:ext cx="0" cy="219456"/>
          </a:xfrm>
          <a:prstGeom prst="line">
            <a:avLst/>
          </a:prstGeom>
          <a:ln w="10160">
            <a:solidFill>
              <a:srgbClr val="9FB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165092" y="4370831"/>
            <a:ext cx="1842516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7064" y="432511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D6D7E"/>
                </a:solidFill>
                <a:latin typeface="Aptos"/>
              </a:rPr>
              <a:t>+31,592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800600"/>
            <a:ext cx="1225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0263C"/>
                </a:solidFill>
                <a:latin typeface="Aptos"/>
              </a:rPr>
              <a:t>Graduate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837175"/>
            <a:ext cx="3758184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65092" y="4800600"/>
            <a:ext cx="0" cy="219455"/>
          </a:xfrm>
          <a:prstGeom prst="line">
            <a:avLst/>
          </a:prstGeom>
          <a:ln w="10160">
            <a:solidFill>
              <a:srgbClr val="9FB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045356" y="4837175"/>
            <a:ext cx="119735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4791455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D6D7E"/>
                </a:solidFill>
                <a:latin typeface="Aptos"/>
              </a:rPr>
              <a:t>-2,053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266944"/>
            <a:ext cx="1225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0263C"/>
                </a:solidFill>
                <a:latin typeface="Aptos"/>
              </a:rPr>
              <a:t>Net change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5303520"/>
            <a:ext cx="3758184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165092" y="5266944"/>
            <a:ext cx="0" cy="219456"/>
          </a:xfrm>
          <a:prstGeom prst="line">
            <a:avLst/>
          </a:prstGeom>
          <a:ln w="10160">
            <a:solidFill>
              <a:srgbClr val="9FB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165092" y="5303520"/>
            <a:ext cx="1722780" cy="146304"/>
          </a:xfrm>
          <a:prstGeom prst="rect">
            <a:avLst/>
          </a:prstGeom>
          <a:solidFill>
            <a:srgbClr val="10263C"/>
          </a:solidFill>
          <a:ln w="10160">
            <a:solidFill>
              <a:srgbClr val="10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7064" y="525780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+29,539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54112" y="3383280"/>
            <a:ext cx="3840480" cy="251460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10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36393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ED9D0"/>
                </a:solidFill>
                <a:latin typeface="Aptos"/>
              </a:rPr>
              <a:t>LATEST-YEAR READ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0233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+28,580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44074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D4DEE7"/>
                </a:solidFill>
                <a:latin typeface="Aptos"/>
              </a:rPr>
              <a:t>undergraduate change at public institutions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046720" y="4846320"/>
            <a:ext cx="2834640" cy="0"/>
          </a:xfrm>
          <a:prstGeom prst="line">
            <a:avLst/>
          </a:prstGeom>
          <a:ln w="12700">
            <a:solidFill>
              <a:srgbClr val="3A4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046720" y="507492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8ED9D0"/>
                </a:solidFill>
                <a:latin typeface="Aptos"/>
              </a:rPr>
              <a:t>+29,968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54132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D4DEE7"/>
                </a:solidFill>
                <a:latin typeface="Aptos"/>
              </a:rPr>
              <a:t>change at continuing institutions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94360" y="6510528"/>
            <a:ext cx="10972800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1792" y="6547104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IPEDS Fall Enrollment · portfolio demonstration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NATIONAL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63C"/>
                </a:solidFill>
                <a:latin typeface="Aptos"/>
              </a:rPr>
              <a:t>Enrollment recovered above 2015 levels after the 2020 shock.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D7E"/>
                </a:solidFill>
                <a:latin typeface="Aptos"/>
              </a:rPr>
              <a:t>The decade result is positive, but the student-level mix changed substantially.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10512"/>
            <a:ext cx="754380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933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63C"/>
                </a:solidFill>
                <a:latin typeface="Aptos"/>
              </a:rPr>
              <a:t>U.S. nonresident enrollment, 2015–2024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8600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students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5054205"/>
            <a:ext cx="6035039" cy="0"/>
          </a:xfrm>
          <a:prstGeom prst="line">
            <a:avLst/>
          </a:prstGeom>
          <a:ln w="889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96112" y="4981053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0.85m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54480" y="3966447"/>
            <a:ext cx="6035039" cy="0"/>
          </a:xfrm>
          <a:prstGeom prst="line">
            <a:avLst/>
          </a:prstGeom>
          <a:ln w="889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" y="3893295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0.95m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54480" y="2878688"/>
            <a:ext cx="6035039" cy="0"/>
          </a:xfrm>
          <a:prstGeom prst="line">
            <a:avLst/>
          </a:prstGeom>
          <a:ln w="889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6112" y="2805536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1.05m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394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2015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680" y="5394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9800" y="5394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5394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2024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554480" y="3461911"/>
            <a:ext cx="670560" cy="170191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225040" y="3439199"/>
            <a:ext cx="670560" cy="22712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95600" y="3439199"/>
            <a:ext cx="670559" cy="108591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66159" y="3547790"/>
            <a:ext cx="670561" cy="167841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36720" y="3715631"/>
            <a:ext cx="670560" cy="1370337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907280" y="4706166"/>
            <a:ext cx="670560" cy="379802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577840" y="3816978"/>
            <a:ext cx="670560" cy="889188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248400" y="3263776"/>
            <a:ext cx="670560" cy="553202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918960" y="2942463"/>
            <a:ext cx="670559" cy="321313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504188" y="3581810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174747" y="3411619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45307" y="3388907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15867" y="3497498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86428" y="3665339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6988" y="5035676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27548" y="4655874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198108" y="3766686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68668" y="3213484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39227" y="2892171"/>
            <a:ext cx="100584" cy="100584"/>
          </a:xfrm>
          <a:prstGeom prst="ellipse">
            <a:avLst/>
          </a:prstGeom>
          <a:solidFill>
            <a:srgbClr val="0B776E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19" y="255841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63C"/>
                </a:solidFill>
                <a:latin typeface="Aptos"/>
              </a:rPr>
              <a:t>1,044,137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1810512"/>
            <a:ext cx="3227832" cy="4407408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10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2" y="207568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ED9D0"/>
                </a:solidFill>
                <a:latin typeface="Aptos"/>
              </a:rPr>
              <a:t>DECADE COMPOSITION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512" y="257860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FB0C0"/>
                </a:solidFill>
                <a:latin typeface="Aptos"/>
              </a:rPr>
              <a:t>Graduate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8512" y="281635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+138,765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68512" y="320040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D4DEE7"/>
                </a:solidFill>
                <a:latin typeface="Aptos"/>
              </a:rPr>
              <a:t>+33.3%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68512" y="3593592"/>
            <a:ext cx="2514600" cy="0"/>
          </a:xfrm>
          <a:prstGeom prst="line">
            <a:avLst/>
          </a:prstGeom>
          <a:ln w="12700">
            <a:solidFill>
              <a:srgbClr val="3A4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68512" y="387705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FB0C0"/>
                </a:solidFill>
                <a:latin typeface="Aptos"/>
              </a:rPr>
              <a:t>Undergraduate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8512" y="411480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-75,365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8512" y="44988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D4DEE7"/>
                </a:solidFill>
                <a:latin typeface="Aptos"/>
              </a:rPr>
              <a:t>-13.4%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12" y="50749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FB0C0"/>
                </a:solidFill>
                <a:latin typeface="Aptos"/>
              </a:rPr>
              <a:t>Net decade change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68512" y="5340096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8ED9D0"/>
                </a:solidFill>
                <a:latin typeface="Aptos"/>
              </a:rPr>
              <a:t>+63,400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4360" y="6510528"/>
            <a:ext cx="10972800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1792" y="6547104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IPEDS Fall Enrollment · portfolio demonstration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63C"/>
                </a:solidFill>
                <a:latin typeface="Aptos"/>
              </a:rPr>
              <a:t>Recovery is broad, but not uniform across states.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D7E"/>
                </a:solidFill>
                <a:latin typeface="Aptos"/>
              </a:rPr>
              <a:t>Change below is relative to the 2019 pre-pandemic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10972800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011680"/>
            <a:ext cx="2011680" cy="658368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E8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6712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7564F"/>
                </a:solidFill>
                <a:latin typeface="Aptos"/>
              </a:rPr>
              <a:t>33 of 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395728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07564F"/>
                </a:solidFill>
                <a:latin typeface="Aptos"/>
              </a:rPr>
              <a:t>at or above 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0779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63C"/>
                </a:solidFill>
                <a:latin typeface="Aptos"/>
              </a:rPr>
              <a:t>Largest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375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33558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54480" y="3355848"/>
            <a:ext cx="3291840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33192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+14,464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7947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TX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38130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813048"/>
            <a:ext cx="3249736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37764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+14,279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2519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42702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54480" y="4270248"/>
            <a:ext cx="2925194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42336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+12,853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7091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FL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47274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4480" y="4727448"/>
            <a:ext cx="2726510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46908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+11,980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1663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51846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54480" y="5184648"/>
            <a:ext cx="2537156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3752" y="51480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+11,148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90779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63C"/>
                </a:solidFill>
                <a:latin typeface="Aptos"/>
              </a:rPr>
              <a:t>Largest shortfalls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3375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30568" y="33558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30568" y="3355848"/>
            <a:ext cx="3291840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33192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-33,282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7947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30568" y="38130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30568" y="3813048"/>
            <a:ext cx="421840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37764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-4,265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2519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0568" y="42702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30568" y="4270248"/>
            <a:ext cx="380002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0" y="42336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-3,842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7091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WA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0568" y="47274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30568" y="4727448"/>
            <a:ext cx="379211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49840" y="46908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-3,834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1663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30568" y="51846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30568" y="5184648"/>
            <a:ext cx="360814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49840" y="51480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-3,648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5715000"/>
            <a:ext cx="10012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Interpretation: the national recovery does not imply a uniform state pattern. California remains the largest absolute shortfall from 2019, while Illinois and Texas show the largest gains.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94360" y="6510528"/>
            <a:ext cx="10972800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1792" y="6547104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IPEDS Fall Enrollment · portfolio demonstration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09960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44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63C"/>
                </a:solidFill>
                <a:latin typeface="Aptos"/>
              </a:rPr>
              <a:t>Private nonprofit growth offset declines in the other control sectors.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D7E"/>
                </a:solidFill>
                <a:latin typeface="Aptos"/>
              </a:rPr>
              <a:t>Institution-universe accounting shows where the decade increase actually came from.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10512"/>
            <a:ext cx="521208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391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63C"/>
                </a:solidFill>
                <a:latin typeface="Aptos"/>
              </a:rPr>
              <a:t>Change by institutional control, 2015–2024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9748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Public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715768"/>
            <a:ext cx="301752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2715768"/>
            <a:ext cx="586089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267919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-16,087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35584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Priv. nonprofit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3374136"/>
            <a:ext cx="301752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3374136"/>
            <a:ext cx="3017520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3337560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+82,825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014216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Priv. for-profit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4032504"/>
            <a:ext cx="301752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4480" y="4032504"/>
            <a:ext cx="121611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995928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-3,338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07492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D6D7E"/>
                </a:solidFill>
                <a:latin typeface="Aptos"/>
              </a:rPr>
              <a:t>Private nonprofit institutions increased by 82,825 students and shifted the national control mix toward nonprofit institutions.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3328" y="1810512"/>
            <a:ext cx="5541264" cy="4407408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10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66543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ED9D0"/>
                </a:solidFill>
                <a:latin typeface="Aptos"/>
              </a:rPr>
              <a:t>INSTITUTION-UNIVERSE ACCOUNTING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606040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9FB0C0"/>
                </a:solidFill>
                <a:latin typeface="Aptos"/>
              </a:rPr>
              <a:t>Continuing institutions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45059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+66,981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82512" y="3090672"/>
            <a:ext cx="4297680" cy="0"/>
          </a:xfrm>
          <a:prstGeom prst="line">
            <a:avLst/>
          </a:prstGeom>
          <a:ln w="12700">
            <a:solidFill>
              <a:srgbClr val="3A4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82512" y="343814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9FB0C0"/>
                </a:solidFill>
                <a:latin typeface="Aptos"/>
              </a:rPr>
              <a:t>Universe entry / exit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282696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-3,581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82512" y="3922776"/>
            <a:ext cx="4297680" cy="0"/>
          </a:xfrm>
          <a:prstGeom prst="line">
            <a:avLst/>
          </a:prstGeom>
          <a:ln w="12700">
            <a:solidFill>
              <a:srgbClr val="3A4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82512" y="4288536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D4DEE7"/>
                </a:solidFill>
                <a:latin typeface="Aptos"/>
              </a:rPr>
              <a:t>National decade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105656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500" b="1">
                <a:solidFill>
                  <a:srgbClr val="8ED9D0"/>
                </a:solidFill>
                <a:latin typeface="Aptos"/>
              </a:rPr>
              <a:t>+63,400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983480"/>
            <a:ext cx="4343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D4DEE7"/>
                </a:solidFill>
                <a:latin typeface="Aptos"/>
              </a:rPr>
              <a:t>The increase was created inside continuing institutions, not by adding more institutions to the analytic universe.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6510528"/>
            <a:ext cx="10972800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1792" y="6547104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IPEDS Fall Enrollment · portfolio demonstration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PUBLICATION JUDGMENT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44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63C"/>
                </a:solidFill>
                <a:latin typeface="Aptos"/>
              </a:rPr>
              <a:t>The aggregate result is publishable. Ten institution claims remain held.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D7E"/>
                </a:solidFill>
                <a:latin typeface="Aptos"/>
              </a:rPr>
              <a:t>Automated flags trigger evidence review; unresolved institution interpretation stays out of public narrative.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47088"/>
            <a:ext cx="342900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93392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D6D7E"/>
                </a:solidFill>
                <a:latin typeface="Aptos"/>
              </a:rPr>
              <a:t>HIGH-PRIORITY REVIEWED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95144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0263C"/>
                </a:solidFill>
                <a:latin typeface="Aptos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43200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D6D7E"/>
                </a:solidFill>
                <a:latin typeface="Aptos"/>
              </a:rPr>
              <a:t>26 safe with context · 1 held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847088"/>
            <a:ext cx="342900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93392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D6D7E"/>
                </a:solidFill>
                <a:latin typeface="Aptos"/>
              </a:rPr>
              <a:t>MEDIUM-PRIORITY REVIEWED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95144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0263C"/>
                </a:solidFill>
                <a:latin typeface="Aptos"/>
              </a:rPr>
              <a:t>50/50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D6D7E"/>
                </a:solidFill>
                <a:latin typeface="Aptos"/>
              </a:rPr>
              <a:t>41 safe with context · 9 held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27264" y="1847088"/>
            <a:ext cx="3767328" cy="1216152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10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1856" y="1993392"/>
            <a:ext cx="3438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9FB0C0"/>
                </a:solidFill>
                <a:latin typeface="Aptos"/>
              </a:rPr>
              <a:t>INSTITUTION-SPECIFIC CLAIMS HELD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2295144"/>
            <a:ext cx="34381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2743200"/>
            <a:ext cx="3438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4DEE7"/>
                </a:solidFill>
                <a:latin typeface="Aptos"/>
              </a:rPr>
              <a:t>retained in aggregates · excluded from unsupported narrative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355848"/>
            <a:ext cx="5349240" cy="2788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02736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263C"/>
                </a:solidFill>
                <a:latin typeface="Aptos"/>
              </a:rPr>
              <a:t>What can be used now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169664"/>
            <a:ext cx="82296" cy="82296"/>
          </a:xfrm>
          <a:prstGeom prst="ellipse">
            <a:avLst/>
          </a:prstGeom>
          <a:solidFill>
            <a:srgbClr val="0B776E"/>
          </a:solidFill>
          <a:ln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096512"/>
            <a:ext cx="41788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Aggregate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379976"/>
            <a:ext cx="4178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2024 enrollment increased +29,539 (+2.9%), led by undergraduate growth.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828032"/>
            <a:ext cx="82296" cy="82296"/>
          </a:xfrm>
          <a:prstGeom prst="ellipse">
            <a:avLst/>
          </a:prstGeom>
          <a:solidFill>
            <a:srgbClr val="0B776E"/>
          </a:solidFill>
          <a:ln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754880"/>
            <a:ext cx="41788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Geographic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038344"/>
            <a:ext cx="4178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33 states/DC are at or above 2019; 18 remain below.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486400"/>
            <a:ext cx="82296" cy="82296"/>
          </a:xfrm>
          <a:prstGeom prst="ellipse">
            <a:avLst/>
          </a:prstGeom>
          <a:solidFill>
            <a:srgbClr val="0B776E"/>
          </a:solidFill>
          <a:ln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413248"/>
            <a:ext cx="41788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Next-release persistence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696712"/>
            <a:ext cx="4178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Call the undergraduate shift broadly persistent only if the next complete release is positive nationally and in at least 26 of 51 states/DC.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355848"/>
            <a:ext cx="5394960" cy="2788920"/>
          </a:xfrm>
          <a:prstGeom prst="roundRect">
            <a:avLst/>
          </a:prstGeom>
          <a:solidFill>
            <a:srgbClr val="F0F4F7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60273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263C"/>
                </a:solidFill>
                <a:latin typeface="Aptos"/>
              </a:rPr>
              <a:t>Guardrails before reuse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14800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4096512"/>
            <a:ext cx="3959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Population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4379976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IPEDS U.S. nonresident is not interchangeable with immigrant-origin, undocumented, refugee/asylee, or all international-student populations.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773168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754880"/>
            <a:ext cx="3959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Vintage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5038344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2024 is treated as provisional and can differ slightly from earlier Digest releases built from earlier files.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43153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5413248"/>
            <a:ext cx="3959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Authority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5696712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CSV/JSON outputs remain authoritative; this PPTX, the Excel workbook, PDF, and website are downstream presentation artifacts.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60" y="6510528"/>
            <a:ext cx="10972800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6547104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IPEDS Fall Enrollment · portfolio demonstration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U.S. Nonresident Enrollment Management Briefing</dc:title>
  <dc:subject>Portfolio management briefing generated from validated IPEDS outputs</dc:subject>
  <dc:creator>Portfolio demonstration</dc:creator>
  <cp:keywords>IPEDS, analyst, PowerPoint, management briefing, portfolio</cp:keywords>
  <dc:description>Downstream presentation artifact; validated CSV/JSON outputs remain authoritative.</dc:description>
  <cp:lastModifiedBy>Steve Canny</cp:lastModifiedBy>
  <cp:revision>1</cp:revision>
  <dcterms:created xsi:type="dcterms:W3CDTF">2026-10-13T00:00:00Z</dcterms:created>
  <dcterms:modified xsi:type="dcterms:W3CDTF">2026-10-13T00:00:00Z</dcterms:modified>
  <cp:category/>
</cp:coreProperties>
</file>