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U.S. NONRESIDENT ENROLLMENT ·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2024 growth shifted toward undergraduates.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Long-run recovery is still graduate-heavy and uneven across states.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74519"/>
            <a:ext cx="2606040" cy="1216152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9FB0C0"/>
                </a:solidFill>
                <a:latin typeface="Aptos"/>
              </a:rPr>
              <a:t>2024 ENROLLMENT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1,044,137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D4DEE7"/>
                </a:solidFill>
                <a:latin typeface="Aptos"/>
              </a:rPr>
              <a:t>5.3% of total enrollment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95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2023 →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95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+29,539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+2.9%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UNDERGRADUATE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3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+31,592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45 of 51 states/DC increased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513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59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2015 → 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59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+63,400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59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+6.5%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" y="3383280"/>
            <a:ext cx="6903720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639312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63C"/>
                </a:solidFill>
                <a:latin typeface="Aptos"/>
              </a:rPr>
              <a:t>What changed from 2023 to 2024?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3941063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D6D7E"/>
                </a:solidFill>
                <a:latin typeface="Aptos"/>
              </a:rPr>
              <a:t>Change in U.S. nonresident enrollment by student level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334256"/>
            <a:ext cx="12252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10263C"/>
                </a:solidFill>
                <a:latin typeface="Aptos"/>
              </a:rPr>
              <a:t>Undergraduate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0" y="4370831"/>
            <a:ext cx="3758184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4165092" y="4334256"/>
            <a:ext cx="0" cy="219456"/>
          </a:xfrm>
          <a:prstGeom prst="line">
            <a:avLst/>
          </a:prstGeom>
          <a:ln w="10160">
            <a:solidFill>
              <a:srgbClr val="9FB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4165092" y="4370831"/>
            <a:ext cx="1842516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27064" y="43251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D6D7E"/>
                </a:solidFill>
                <a:latin typeface="Aptos"/>
              </a:rPr>
              <a:t>+31,592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4800600"/>
            <a:ext cx="12252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10263C"/>
                </a:solidFill>
                <a:latin typeface="Aptos"/>
              </a:rPr>
              <a:t>Graduate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4837175"/>
            <a:ext cx="3758184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4165092" y="4800600"/>
            <a:ext cx="0" cy="219455"/>
          </a:xfrm>
          <a:prstGeom prst="line">
            <a:avLst/>
          </a:prstGeom>
          <a:ln w="10160">
            <a:solidFill>
              <a:srgbClr val="9FB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045356" y="4837175"/>
            <a:ext cx="119735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7064" y="4791455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D6D7E"/>
                </a:solidFill>
                <a:latin typeface="Aptos"/>
              </a:rPr>
              <a:t>-2,053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5266944"/>
            <a:ext cx="12252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1">
                <a:solidFill>
                  <a:srgbClr val="10263C"/>
                </a:solidFill>
                <a:latin typeface="Aptos"/>
              </a:rPr>
              <a:t>Net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86000" y="5303520"/>
            <a:ext cx="3758184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4165092" y="5266944"/>
            <a:ext cx="0" cy="219456"/>
          </a:xfrm>
          <a:prstGeom prst="line">
            <a:avLst/>
          </a:prstGeom>
          <a:ln w="10160">
            <a:solidFill>
              <a:srgbClr val="9FB0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165092" y="5303520"/>
            <a:ext cx="1722780" cy="146304"/>
          </a:xfrm>
          <a:prstGeom prst="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27064" y="5257800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+29,539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54112" y="3383280"/>
            <a:ext cx="3840480" cy="2514600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0" y="363931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ED9D0"/>
                </a:solidFill>
                <a:latin typeface="Aptos"/>
              </a:rPr>
              <a:t>LATEST-YEAR READ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4023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ptos"/>
              </a:rPr>
              <a:t>+28,580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440740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0">
                <a:solidFill>
                  <a:srgbClr val="D4DEE7"/>
                </a:solidFill>
                <a:latin typeface="Aptos"/>
              </a:rPr>
              <a:t>undergraduate change at public institutions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046720" y="4846320"/>
            <a:ext cx="283464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046720" y="5074920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ED9D0"/>
                </a:solidFill>
                <a:latin typeface="Aptos"/>
              </a:rPr>
              <a:t>+29,968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0" y="541324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19" b="0">
                <a:solidFill>
                  <a:srgbClr val="D4DEE7"/>
                </a:solidFill>
                <a:latin typeface="Aptos"/>
              </a:rPr>
              <a:t>change at continuing institutions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NATIONAL 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Enrollment recovered above 2015 levels after the 2020 shock.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The decade result is positive, but the student-level mix changed substantially.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10512"/>
            <a:ext cx="7543800" cy="44074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933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U.S. nonresident enrollment, 2015–2024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8600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students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54480" y="5054205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96112" y="4981053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0.85m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554480" y="3966447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96112" y="3893295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0.95m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54480" y="2878688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96112" y="2805536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1.05m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68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980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19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2024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1554480" y="3461911"/>
            <a:ext cx="670560" cy="17019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225040" y="3439199"/>
            <a:ext cx="670560" cy="2271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95600" y="3439199"/>
            <a:ext cx="670559" cy="10859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566159" y="3547790"/>
            <a:ext cx="670561" cy="16784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236720" y="3715631"/>
            <a:ext cx="670560" cy="1370337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907280" y="4706166"/>
            <a:ext cx="670560" cy="37980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577840" y="3816978"/>
            <a:ext cx="670560" cy="889188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248400" y="3263776"/>
            <a:ext cx="670560" cy="55320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918960" y="2942463"/>
            <a:ext cx="670559" cy="321313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504188" y="3581810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174747" y="3411619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845307" y="3388907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15867" y="3497498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186428" y="3665339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56988" y="5035676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527548" y="4655874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198108" y="3766686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68668" y="3213484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539227" y="2892171"/>
            <a:ext cx="100584" cy="100584"/>
          </a:xfrm>
          <a:prstGeom prst="ellipse">
            <a:avLst/>
          </a:prstGeom>
          <a:solidFill>
            <a:srgbClr val="0B776E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19" y="2558415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0263C"/>
                </a:solidFill>
                <a:latin typeface="Aptos"/>
              </a:rPr>
              <a:t>1,044,137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66760" y="1810512"/>
            <a:ext cx="3227832" cy="4407408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68512" y="207568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ED9D0"/>
                </a:solidFill>
                <a:latin typeface="Aptos"/>
              </a:rPr>
              <a:t>DECADE COMPOSITION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68512" y="2578608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FB0C0"/>
                </a:solidFill>
                <a:latin typeface="Aptos"/>
              </a:rPr>
              <a:t>Graduate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68512" y="2816352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+138,765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68512" y="32004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D4DEE7"/>
                </a:solidFill>
                <a:latin typeface="Aptos"/>
              </a:rPr>
              <a:t>+33.3%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668512" y="3593592"/>
            <a:ext cx="251460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668512" y="387705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FB0C0"/>
                </a:solidFill>
                <a:latin typeface="Aptos"/>
              </a:rPr>
              <a:t>Undergraduate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8512" y="411480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-75,365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68512" y="4498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D4DEE7"/>
                </a:solidFill>
                <a:latin typeface="Aptos"/>
              </a:rPr>
              <a:t>-13.4%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68512" y="50749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FB0C0"/>
                </a:solidFill>
                <a:latin typeface="Aptos"/>
              </a:rPr>
              <a:t>Net decade change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68512" y="5340096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8ED9D0"/>
                </a:solidFill>
                <a:latin typeface="Aptos"/>
              </a:rPr>
              <a:t>+63,400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GEOGRAPHY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Recovery is broad, but not uniform across states.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Change below is relative to the 2019 pre-pandemic baseline.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783080"/>
            <a:ext cx="10972800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011680"/>
            <a:ext cx="2011680" cy="658368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E8F3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167128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7564F"/>
                </a:solidFill>
                <a:latin typeface="Aptos"/>
              </a:rPr>
              <a:t>33 of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395728"/>
            <a:ext cx="1737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07564F"/>
                </a:solidFill>
                <a:latin typeface="Aptos"/>
              </a:rPr>
              <a:t>at or above 2019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0779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Largest gains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375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4480" y="33558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54480" y="3355848"/>
            <a:ext cx="329184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3752" y="33192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+14,464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7947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TX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38130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54480" y="3813048"/>
            <a:ext cx="3249736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3752" y="37764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+14,279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2519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54480" y="42702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554480" y="4270248"/>
            <a:ext cx="2925194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3752" y="42336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+12,853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7091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FL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54480" y="47274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54480" y="4727448"/>
            <a:ext cx="272651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3752" y="46908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+11,980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1663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MO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54480" y="51846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54480" y="5184648"/>
            <a:ext cx="2537156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3752" y="51480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+11,148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0779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Largest shortfalls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33375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CA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30568" y="33558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30568" y="3355848"/>
            <a:ext cx="3291840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0" y="33192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-33,282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37947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30568" y="38130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30568" y="3813048"/>
            <a:ext cx="421840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0" y="37764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-4,265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42519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30568" y="42702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830568" y="4270248"/>
            <a:ext cx="380002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0" y="42336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-3,842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72200" y="47091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WA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7274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830568" y="4727448"/>
            <a:ext cx="379211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49840" y="46908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-3,834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72200" y="51663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30568" y="51846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30568" y="5184648"/>
            <a:ext cx="360814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49840" y="51480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-3,648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5715000"/>
            <a:ext cx="10012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Interpretation: the national recovery does not imply a uniform state pattern. California remains the largest absolute shortfall from 2019, while Illinois and Texas show the largest gains.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13232"/>
            <a:ext cx="10744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0263C"/>
                </a:solidFill>
                <a:latin typeface="Aptos"/>
              </a:rPr>
              <a:t>Private nonprofit growth offset declines in the other control sectors.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Institution-universe accounting shows where the decade increase actually came from.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10512"/>
            <a:ext cx="5212080" cy="44074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391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Change by institutional control, 2015–2024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9748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Public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2715768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54480" y="2715768"/>
            <a:ext cx="586089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1" y="267919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-16,087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355848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Priv. nonprofit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3374136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554480" y="3374136"/>
            <a:ext cx="301752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1" y="3337560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+82,825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014216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Priv. for-profit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4480" y="4032504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54480" y="4032504"/>
            <a:ext cx="121611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1" y="3995928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-3,338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0749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D6D7E"/>
                </a:solidFill>
                <a:latin typeface="Aptos"/>
              </a:rPr>
              <a:t>Private nonprofit institutions increased by 82,825 students and shifted the national control mix toward nonprofit institutions.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3328" y="1810512"/>
            <a:ext cx="5541264" cy="4407408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2066543"/>
            <a:ext cx="4480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ED9D0"/>
                </a:solidFill>
                <a:latin typeface="Aptos"/>
              </a:rPr>
              <a:t>INSTITUTION-UNIVERSE ACCOUNTING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60604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9FB0C0"/>
                </a:solidFill>
                <a:latin typeface="Aptos"/>
              </a:rPr>
              <a:t>Continuing institutions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45059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+66,981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382512" y="3090672"/>
            <a:ext cx="429768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382512" y="3438144"/>
            <a:ext cx="2148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9FB0C0"/>
                </a:solidFill>
                <a:latin typeface="Aptos"/>
              </a:rPr>
              <a:t>Universe entry / exit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3282696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-3,581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82512" y="3922776"/>
            <a:ext cx="429768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382512" y="4288536"/>
            <a:ext cx="2148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D4DEE7"/>
                </a:solidFill>
                <a:latin typeface="Aptos"/>
              </a:rPr>
              <a:t>National decade 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4105656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500" b="1">
                <a:solidFill>
                  <a:srgbClr val="8ED9D0"/>
                </a:solidFill>
                <a:latin typeface="Aptos"/>
              </a:rPr>
              <a:t>+63,400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4983480"/>
            <a:ext cx="4343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D4DEE7"/>
                </a:solidFill>
                <a:latin typeface="Aptos"/>
              </a:rPr>
              <a:t>The increase was created inside continuing institutions, not by adding more institutions to the analytic universe.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PUBLICATION JUDGMENT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13232"/>
            <a:ext cx="10744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0263C"/>
                </a:solidFill>
                <a:latin typeface="Aptos"/>
              </a:rPr>
              <a:t>The aggregate result is publishable. Ten institution claims remain held.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Automated flags trigger evidence review; unresolved institution interpretation stays out of public narrative.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47088"/>
            <a:ext cx="342900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93392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HIGH-PRIORITY REVIEWED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295144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27/27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743200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26 safe with context · 1 held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4528" y="1847088"/>
            <a:ext cx="342900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993392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MEDIUM-PRIORITY REVIEWED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295144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50/50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743200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41 safe with context · 9 held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27264" y="1847088"/>
            <a:ext cx="3767328" cy="1216152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91856" y="1993392"/>
            <a:ext cx="34381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9FB0C0"/>
                </a:solidFill>
                <a:latin typeface="Aptos"/>
              </a:rPr>
              <a:t>INSTITUTION-SPECIFIC CLAIMS HELD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1856" y="2295144"/>
            <a:ext cx="34381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1856" y="2743200"/>
            <a:ext cx="34381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D4DEE7"/>
                </a:solidFill>
                <a:latin typeface="Aptos"/>
              </a:rPr>
              <a:t>retained in aggregates · excluded from unsupported narrative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" y="3355848"/>
            <a:ext cx="5349240" cy="27889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027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263C"/>
                </a:solidFill>
                <a:latin typeface="Aptos"/>
              </a:rPr>
              <a:t>What can be used now</a:t>
            </a:r>
          </a:p>
        </p:txBody>
      </p:sp>
      <p:sp>
        <p:nvSpPr>
          <p:cNvPr id="19" name="Oval 18"/>
          <p:cNvSpPr/>
          <p:nvPr/>
        </p:nvSpPr>
        <p:spPr>
          <a:xfrm>
            <a:off x="914400" y="4169664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4096512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Aggregate direction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4379976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2024 enrollment increased +29,539 (+2.9%), led by undergraduate growth.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4828032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754880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Geographic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038344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33 states/DC are at or above 2019; 18 remain below.</a:t>
            </a:r>
          </a:p>
        </p:txBody>
      </p:sp>
      <p:sp>
        <p:nvSpPr>
          <p:cNvPr id="25" name="Oval 24"/>
          <p:cNvSpPr/>
          <p:nvPr/>
        </p:nvSpPr>
        <p:spPr>
          <a:xfrm>
            <a:off x="914400" y="5486400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5413248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Next-release persistence 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5696712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Call the undergraduate shift broadly persistent only if the next complete release is positive nationally and in at least 26 of 51 states/DC.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9632" y="3355848"/>
            <a:ext cx="5394960" cy="2788920"/>
          </a:xfrm>
          <a:prstGeom prst="roundRect">
            <a:avLst/>
          </a:prstGeom>
          <a:solidFill>
            <a:srgbClr val="F0F4F7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602736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263C"/>
                </a:solidFill>
                <a:latin typeface="Aptos"/>
              </a:rPr>
              <a:t>Guardrails before reuse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11480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4096512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Population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4379976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IPEDS U.S. nonresident is not interchangeable with immigrant-origin, undocumented, refugee/asylee, or all international-student populations.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773168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76288" y="4754880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Vintage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76288" y="5038344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2024 is treated as provisional and can differ slightly from earlier Digest releases built from earlier files.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5431536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76288" y="5413248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Authority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76288" y="5696712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CSV/JSON outputs remain authoritative; this PPTX, the Excel workbook, PDF, and website are downstream presentation artifacts.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U.S. Nonresident Enrollment Management Briefing</dc:title>
  <dc:subject>Portfolio management briefing generated from validated IPEDS outputs</dc:subject>
  <dc:creator>Portfolio demonstration</dc:creator>
  <cp:keywords>IPEDS, analyst, PowerPoint, management briefing, portfolio</cp:keywords>
  <dc:description>Downstream presentation artifact; validated CSV/JSON outputs remain authoritative.</dc:description>
  <cp:lastModifiedBy>Steve Canny</cp:lastModifiedBy>
  <cp:revision>1</cp:revision>
  <dcterms:created xsi:type="dcterms:W3CDTF">2026-10-13T00:00:00Z</dcterms:created>
  <dcterms:modified xsi:type="dcterms:W3CDTF">2026-10-13T00:00:00Z</dcterms:modified>
  <cp:category/>
</cp:coreProperties>
</file>